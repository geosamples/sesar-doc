
<file path=[Content_Types].xml><?xml version="1.0" encoding="utf-8"?>
<Types xmlns="http://schemas.openxmlformats.org/package/2006/content-types">
  <Default Extension="jpeg" ContentType="image/jpeg"/>
  <Default Extension="jpg" ContentType="image/jp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7"/>
  </p:notesMasterIdLst>
  <p:sldIdLst>
    <p:sldId id="314" r:id="rId2"/>
    <p:sldId id="317" r:id="rId3"/>
    <p:sldId id="307" r:id="rId4"/>
    <p:sldId id="348" r:id="rId5"/>
    <p:sldId id="34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86"/>
    <p:restoredTop sz="89669"/>
  </p:normalViewPr>
  <p:slideViewPr>
    <p:cSldViewPr snapToGrid="0">
      <p:cViewPr varScale="1">
        <p:scale>
          <a:sx n="143" d="100"/>
          <a:sy n="143" d="100"/>
        </p:scale>
        <p:origin x="20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BAAA3-3458-2B86-FC07-38A34457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A8D7B-5CB7-563C-23CA-753476B5A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98049-A9B5-A376-C702-41781F461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FBE07-4DAE-E9EB-2B96-58A947A4C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97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D86E365C-E39F-0498-66C5-134E3968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F2D1EDB8-E3EE-93F9-B4A0-3B19CC6C7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95DEFEBE-A133-E09C-9700-0B33043ED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894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292539B-FFF7-9B4E-1DB7-A81AF53D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8187E3AC-21FA-C77E-F168-5A9569383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296588C6-29BF-2E78-53A2-6C405B926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14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57CF0566-C756-1A24-64CC-EBEAC99F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5850A073-79AE-CB97-5844-1131C1ABEF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09FE0F66-EE08-C63B-E1EA-364F7063A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782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717AA78-675A-71C5-AE00-114A22D30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4DD92ABA-99BA-8251-B280-4E33645DCC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F3DF45F1-1BBE-1CCF-9625-5990997DB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867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9/28/26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9/28/26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9/28/26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04724-AE44-96DE-45EE-5E342ECC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96F2-B257-DB48-D16A-ABBAA31CB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Individual Sample Registration</a:t>
            </a:r>
          </a:p>
        </p:txBody>
      </p:sp>
    </p:spTree>
    <p:extLst>
      <p:ext uri="{BB962C8B-B14F-4D97-AF65-F5344CB8AC3E}">
        <p14:creationId xmlns:p14="http://schemas.microsoft.com/office/powerpoint/2010/main" val="361841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A247C30D-1BDB-F331-7E12-7790C912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3659168D-7160-5A6F-C5A5-00FB831EE6C8}"/>
              </a:ext>
            </a:extLst>
          </p:cNvPr>
          <p:cNvSpPr/>
          <p:nvPr/>
        </p:nvSpPr>
        <p:spPr>
          <a:xfrm>
            <a:off x="874618" y="1837693"/>
            <a:ext cx="2051650" cy="896112"/>
          </a:xfrm>
          <a:prstGeom prst="roundRect">
            <a:avLst>
              <a:gd name="adj" fmla="val 642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A72CFCCA-7698-F69D-56CB-1708D3DBBEA1}"/>
              </a:ext>
            </a:extLst>
          </p:cNvPr>
          <p:cNvSpPr/>
          <p:nvPr/>
        </p:nvSpPr>
        <p:spPr>
          <a:xfrm>
            <a:off x="874618" y="3793914"/>
            <a:ext cx="2051650" cy="1419157"/>
          </a:xfrm>
          <a:prstGeom prst="roundRect">
            <a:avLst>
              <a:gd name="adj" fmla="val 642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1C5C166E-992E-F014-6200-C090AD169B29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Individual Sample Registration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1B8CCC-8587-B9BD-A9EB-050FA1F749D5}"/>
              </a:ext>
            </a:extLst>
          </p:cNvPr>
          <p:cNvSpPr/>
          <p:nvPr/>
        </p:nvSpPr>
        <p:spPr>
          <a:xfrm>
            <a:off x="1022800" y="2030110"/>
            <a:ext cx="1812235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Access </a:t>
            </a:r>
            <a:r>
              <a:rPr lang="en-US" sz="1400" b="1" dirty="0">
                <a:solidFill>
                  <a:srgbClr val="66768C"/>
                </a:solidFill>
              </a:rPr>
              <a:t>Individual Sample Registration</a:t>
            </a:r>
            <a:r>
              <a:rPr lang="en-US" sz="1400" dirty="0">
                <a:solidFill>
                  <a:srgbClr val="66768C"/>
                </a:solidFill>
              </a:rPr>
              <a:t> on your Dashboard.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BBE9419-7589-EAAC-7ED5-E5804A20C9DC}"/>
              </a:ext>
            </a:extLst>
          </p:cNvPr>
          <p:cNvSpPr/>
          <p:nvPr/>
        </p:nvSpPr>
        <p:spPr>
          <a:xfrm>
            <a:off x="1050495" y="4084636"/>
            <a:ext cx="1756843" cy="837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Access to </a:t>
            </a:r>
            <a:r>
              <a:rPr lang="en-US" sz="1400" b="1" dirty="0">
                <a:solidFill>
                  <a:srgbClr val="66768C"/>
                </a:solidFill>
              </a:rPr>
              <a:t>Sample Registrations </a:t>
            </a:r>
            <a:r>
              <a:rPr lang="en-US" sz="1400" dirty="0">
                <a:solidFill>
                  <a:srgbClr val="66768C"/>
                </a:solidFill>
              </a:rPr>
              <a:t>on left side panel. </a:t>
            </a:r>
            <a:br>
              <a:rPr lang="en-US" sz="1400" dirty="0">
                <a:solidFill>
                  <a:srgbClr val="66768C"/>
                </a:solidFill>
              </a:rPr>
            </a:br>
            <a:br>
              <a:rPr lang="en-US" sz="1400" dirty="0">
                <a:solidFill>
                  <a:srgbClr val="66768C"/>
                </a:solidFill>
              </a:rPr>
            </a:br>
            <a:r>
              <a:rPr lang="en-US" sz="1400" dirty="0">
                <a:solidFill>
                  <a:srgbClr val="66768C"/>
                </a:solidFill>
              </a:rPr>
              <a:t>Select</a:t>
            </a:r>
            <a:r>
              <a:rPr lang="en-US" sz="1400" b="1" dirty="0">
                <a:solidFill>
                  <a:srgbClr val="66768C"/>
                </a:solidFill>
              </a:rPr>
              <a:t> Register a Sample.</a:t>
            </a:r>
            <a:endParaRPr lang="en-US" sz="105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01100F-7EE8-BB90-1AC3-F8D01F2101F9}"/>
              </a:ext>
            </a:extLst>
          </p:cNvPr>
          <p:cNvGrpSpPr/>
          <p:nvPr/>
        </p:nvGrpSpPr>
        <p:grpSpPr>
          <a:xfrm>
            <a:off x="3067168" y="1392094"/>
            <a:ext cx="8171380" cy="4492990"/>
            <a:chOff x="2586777" y="1312581"/>
            <a:chExt cx="8171380" cy="449299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4D1701A-81A1-34DB-1DB2-448E49926704}"/>
                </a:ext>
              </a:extLst>
            </p:cNvPr>
            <p:cNvGrpSpPr/>
            <p:nvPr/>
          </p:nvGrpSpPr>
          <p:grpSpPr>
            <a:xfrm>
              <a:off x="2586777" y="1312581"/>
              <a:ext cx="8171380" cy="4492990"/>
              <a:chOff x="2498368" y="1278332"/>
              <a:chExt cx="7195264" cy="3956278"/>
            </a:xfrm>
          </p:grpSpPr>
          <p:sp>
            <p:nvSpPr>
              <p:cNvPr id="2" name="Shape 2">
                <a:extLst>
                  <a:ext uri="{FF2B5EF4-FFF2-40B4-BE49-F238E27FC236}">
                    <a16:creationId xmlns:a16="http://schemas.microsoft.com/office/drawing/2014/main" id="{00A934A1-4FA3-B622-761A-8D4E449A4586}"/>
                  </a:ext>
                </a:extLst>
              </p:cNvPr>
              <p:cNvSpPr/>
              <p:nvPr/>
            </p:nvSpPr>
            <p:spPr>
              <a:xfrm>
                <a:off x="2498368" y="1278332"/>
                <a:ext cx="7195264" cy="3956278"/>
              </a:xfrm>
              <a:prstGeom prst="roundRect">
                <a:avLst>
                  <a:gd name="adj" fmla="val 1646"/>
                </a:avLst>
              </a:prstGeom>
              <a:solidFill>
                <a:srgbClr val="FFFFFF"/>
              </a:solidFill>
              <a:ln w="12700">
                <a:solidFill>
                  <a:srgbClr val="D5DEE7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6340B73-4D24-1F67-3524-62D0EADC7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742"/>
              <a:stretch>
                <a:fillRect/>
              </a:stretch>
            </p:blipFill>
            <p:spPr>
              <a:xfrm>
                <a:off x="2585837" y="1384851"/>
                <a:ext cx="7020325" cy="3711113"/>
              </a:xfrm>
              <a:prstGeom prst="rect">
                <a:avLst/>
              </a:prstGeom>
            </p:spPr>
          </p:pic>
        </p:grp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8ECDEDA-0688-6104-348C-3E82922B4F33}"/>
                </a:ext>
              </a:extLst>
            </p:cNvPr>
            <p:cNvSpPr/>
            <p:nvPr/>
          </p:nvSpPr>
          <p:spPr>
            <a:xfrm>
              <a:off x="2686112" y="4166020"/>
              <a:ext cx="1269659" cy="339719"/>
            </a:xfrm>
            <a:prstGeom prst="roundRect">
              <a:avLst>
                <a:gd name="adj" fmla="val 7318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1852D55-75AA-CDF8-AEBC-D4501A4C84D6}"/>
                </a:ext>
              </a:extLst>
            </p:cNvPr>
            <p:cNvSpPr/>
            <p:nvPr/>
          </p:nvSpPr>
          <p:spPr>
            <a:xfrm>
              <a:off x="4137226" y="1807133"/>
              <a:ext cx="2170806" cy="737284"/>
            </a:xfrm>
            <a:prstGeom prst="roundRect">
              <a:avLst>
                <a:gd name="adj" fmla="val 7318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20249C-A836-119E-40A6-99998FFE5AE9}"/>
              </a:ext>
            </a:extLst>
          </p:cNvPr>
          <p:cNvGrpSpPr/>
          <p:nvPr/>
        </p:nvGrpSpPr>
        <p:grpSpPr>
          <a:xfrm>
            <a:off x="736775" y="1698617"/>
            <a:ext cx="275685" cy="278152"/>
            <a:chOff x="643848" y="1739377"/>
            <a:chExt cx="384238" cy="384048"/>
          </a:xfrm>
        </p:grpSpPr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80E27FFE-57BB-5240-372B-CB0F94C56A72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37B1E1D5-A7E0-1E6C-17B4-FCEAB034E72F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54A902-E935-B9C3-076D-06FF201B0AC3}"/>
              </a:ext>
            </a:extLst>
          </p:cNvPr>
          <p:cNvGrpSpPr/>
          <p:nvPr/>
        </p:nvGrpSpPr>
        <p:grpSpPr>
          <a:xfrm>
            <a:off x="780183" y="3638589"/>
            <a:ext cx="275685" cy="278152"/>
            <a:chOff x="643848" y="1739377"/>
            <a:chExt cx="384238" cy="384048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31D2502F-577F-9129-D0E5-891F404BC0D5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3281C723-DED9-435B-CCAD-60B9400AFA3C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3524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A2E3C37D-61ED-1B06-3907-2A6D37E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">
            <a:extLst>
              <a:ext uri="{FF2B5EF4-FFF2-40B4-BE49-F238E27FC236}">
                <a16:creationId xmlns:a16="http://schemas.microsoft.com/office/drawing/2014/main" id="{F5FC9EE6-360A-82AD-E0F7-5361B0A0F947}"/>
              </a:ext>
            </a:extLst>
          </p:cNvPr>
          <p:cNvSpPr/>
          <p:nvPr/>
        </p:nvSpPr>
        <p:spPr>
          <a:xfrm>
            <a:off x="3476035" y="5016733"/>
            <a:ext cx="5239929" cy="1419509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E1E95F03-22FF-759A-E0A9-FDCE13A3EFBF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Individual Sample Registration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ABE4E59C-7B5B-2E16-0C23-4F8EDB50E2CA}"/>
              </a:ext>
            </a:extLst>
          </p:cNvPr>
          <p:cNvSpPr/>
          <p:nvPr/>
        </p:nvSpPr>
        <p:spPr>
          <a:xfrm>
            <a:off x="3673963" y="5030055"/>
            <a:ext cx="4974962" cy="132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Individual registrations are for single sample registrations.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66768C"/>
                </a:solidFill>
              </a:rPr>
              <a:t>Select a SESAR Code for your sample.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64748B"/>
                </a:solidFill>
              </a:rPr>
              <a:t>Enter identifiers and required sample information.</a:t>
            </a:r>
            <a:endParaRPr lang="en-US" sz="1400" dirty="0">
              <a:solidFill>
                <a:srgbClr val="66768C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64748B"/>
                </a:solidFill>
              </a:rPr>
              <a:t>Continue through location, classification, collection, and related fields, then submit.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64748B"/>
                </a:solidFill>
              </a:rPr>
              <a:t>Save draft if you want to finish registration at a later time.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86C6F0CF-2702-B277-7E38-EA09D0C272B3}"/>
              </a:ext>
            </a:extLst>
          </p:cNvPr>
          <p:cNvSpPr/>
          <p:nvPr/>
        </p:nvSpPr>
        <p:spPr>
          <a:xfrm>
            <a:off x="419101" y="1605746"/>
            <a:ext cx="5567544" cy="3227408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/mnt/data/sesar_frames/hi_1800.jpg">
            <a:extLst>
              <a:ext uri="{FF2B5EF4-FFF2-40B4-BE49-F238E27FC236}">
                <a16:creationId xmlns:a16="http://schemas.microsoft.com/office/drawing/2014/main" id="{D86D1065-4794-B043-3916-BD8A390ACF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596" r="4974" b="7689"/>
          <a:stretch>
            <a:fillRect/>
          </a:stretch>
        </p:blipFill>
        <p:spPr>
          <a:xfrm>
            <a:off x="490355" y="1705759"/>
            <a:ext cx="5496290" cy="3028413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8EB36FE3-C9AD-AFFF-2640-8C4685D1143C}"/>
              </a:ext>
            </a:extLst>
          </p:cNvPr>
          <p:cNvSpPr/>
          <p:nvPr/>
        </p:nvSpPr>
        <p:spPr>
          <a:xfrm>
            <a:off x="6096000" y="1605746"/>
            <a:ext cx="5715000" cy="3227408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/mnt/data/sesar_frames/hi_1920.jpg">
            <a:extLst>
              <a:ext uri="{FF2B5EF4-FFF2-40B4-BE49-F238E27FC236}">
                <a16:creationId xmlns:a16="http://schemas.microsoft.com/office/drawing/2014/main" id="{6A68FEF0-946E-46B9-4839-D47FE72643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923" r="5635" b="2842"/>
          <a:stretch>
            <a:fillRect/>
          </a:stretch>
        </p:blipFill>
        <p:spPr>
          <a:xfrm>
            <a:off x="6205354" y="1705243"/>
            <a:ext cx="5496290" cy="3028414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B1041AE-B8BE-EA80-B4A2-13A9572352A2}"/>
              </a:ext>
            </a:extLst>
          </p:cNvPr>
          <p:cNvSpPr/>
          <p:nvPr/>
        </p:nvSpPr>
        <p:spPr>
          <a:xfrm>
            <a:off x="1866900" y="2914650"/>
            <a:ext cx="3124200" cy="342900"/>
          </a:xfrm>
          <a:prstGeom prst="roundRect">
            <a:avLst>
              <a:gd name="adj" fmla="val 7318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9051BBC-CF22-4E8A-DAAA-7902087039BE}"/>
              </a:ext>
            </a:extLst>
          </p:cNvPr>
          <p:cNvSpPr/>
          <p:nvPr/>
        </p:nvSpPr>
        <p:spPr>
          <a:xfrm>
            <a:off x="10109555" y="4501662"/>
            <a:ext cx="1592090" cy="268956"/>
          </a:xfrm>
          <a:prstGeom prst="roundRect">
            <a:avLst>
              <a:gd name="adj" fmla="val 16642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991A57-3346-A5B7-C226-371C94560253}"/>
              </a:ext>
            </a:extLst>
          </p:cNvPr>
          <p:cNvGrpSpPr/>
          <p:nvPr/>
        </p:nvGrpSpPr>
        <p:grpSpPr>
          <a:xfrm>
            <a:off x="352512" y="1427091"/>
            <a:ext cx="275685" cy="278152"/>
            <a:chOff x="643848" y="1739377"/>
            <a:chExt cx="384238" cy="384048"/>
          </a:xfrm>
        </p:grpSpPr>
        <p:sp>
          <p:nvSpPr>
            <p:cNvPr id="31" name="Shape 3">
              <a:extLst>
                <a:ext uri="{FF2B5EF4-FFF2-40B4-BE49-F238E27FC236}">
                  <a16:creationId xmlns:a16="http://schemas.microsoft.com/office/drawing/2014/main" id="{96E466BB-B64C-C8C2-9054-0C05B70AF892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ext 4">
              <a:extLst>
                <a:ext uri="{FF2B5EF4-FFF2-40B4-BE49-F238E27FC236}">
                  <a16:creationId xmlns:a16="http://schemas.microsoft.com/office/drawing/2014/main" id="{60E75A19-FEA8-AE40-00D5-60AD1406C558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B6ADC5-6AD9-9589-0A95-AA0425FC4400}"/>
              </a:ext>
            </a:extLst>
          </p:cNvPr>
          <p:cNvGrpSpPr/>
          <p:nvPr/>
        </p:nvGrpSpPr>
        <p:grpSpPr>
          <a:xfrm>
            <a:off x="5996256" y="1427091"/>
            <a:ext cx="275685" cy="278152"/>
            <a:chOff x="643848" y="1739377"/>
            <a:chExt cx="384238" cy="384048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9D3D21AE-C82C-98F9-895A-45A35FF90C61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 4">
              <a:extLst>
                <a:ext uri="{FF2B5EF4-FFF2-40B4-BE49-F238E27FC236}">
                  <a16:creationId xmlns:a16="http://schemas.microsoft.com/office/drawing/2014/main" id="{31C4BAB6-BDAA-744A-3130-B662D1B1F456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2-4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648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25D4B464-5823-BB28-12E3-1C6D748C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7C4F4AB6-E878-52AF-AB93-5C7F8A3D1EBC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Registration - VIDEO Tutorial</a:t>
            </a:r>
          </a:p>
        </p:txBody>
      </p:sp>
      <p:pic>
        <p:nvPicPr>
          <p:cNvPr id="3" name="21_Individual sample ">
            <a:hlinkClick r:id="" action="ppaction://media"/>
            <a:extLst>
              <a:ext uri="{FF2B5EF4-FFF2-40B4-BE49-F238E27FC236}">
                <a16:creationId xmlns:a16="http://schemas.microsoft.com/office/drawing/2014/main" id="{5296CE13-002A-807F-8329-9D466C0E64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96353" y="1130583"/>
            <a:ext cx="7857295" cy="567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1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72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7450BD23-ADBC-2177-3E33-8B1DE69A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D09A4E81-7F09-8790-6574-F5FB69309997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Assigning IGSNs - VIDEO Tutorial</a:t>
            </a:r>
          </a:p>
        </p:txBody>
      </p:sp>
      <p:pic>
        <p:nvPicPr>
          <p:cNvPr id="3" name="Manually creating IGSNs during registtraion">
            <a:hlinkClick r:id="" action="ppaction://media"/>
            <a:extLst>
              <a:ext uri="{FF2B5EF4-FFF2-40B4-BE49-F238E27FC236}">
                <a16:creationId xmlns:a16="http://schemas.microsoft.com/office/drawing/2014/main" id="{3735672B-FF99-D518-F30D-4AF63F97C6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10368" y="1147819"/>
            <a:ext cx="7571263" cy="562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99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1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7735</TotalTime>
  <Words>98</Words>
  <Application>Microsoft Macintosh PowerPoint</Application>
  <PresentationFormat>Widescreen</PresentationFormat>
  <Paragraphs>17</Paragraphs>
  <Slides>5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Gill Sans MT</vt:lpstr>
      <vt:lpstr>Parcel</vt:lpstr>
      <vt:lpstr>Individual Sample Registration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89</cp:revision>
  <dcterms:created xsi:type="dcterms:W3CDTF">2023-01-20T14:09:08Z</dcterms:created>
  <dcterms:modified xsi:type="dcterms:W3CDTF">2026-09-28T21:35:47Z</dcterms:modified>
</cp:coreProperties>
</file>