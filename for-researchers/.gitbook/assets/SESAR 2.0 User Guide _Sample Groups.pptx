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notesMasterIdLst>
    <p:notesMasterId r:id="rId7"/>
  </p:notesMasterIdLst>
  <p:sldIdLst>
    <p:sldId id="382" r:id="rId2"/>
    <p:sldId id="383" r:id="rId3"/>
    <p:sldId id="384" r:id="rId4"/>
    <p:sldId id="385" r:id="rId5"/>
    <p:sldId id="36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68C"/>
    <a:srgbClr val="FFCA54"/>
    <a:srgbClr val="FF972E"/>
    <a:srgbClr val="57A9BD"/>
    <a:srgbClr val="3D3D3D"/>
    <a:srgbClr val="FFB329"/>
    <a:srgbClr val="7FFFE7"/>
    <a:srgbClr val="1A1E8A"/>
    <a:srgbClr val="F898B5"/>
    <a:srgbClr val="1F39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44"/>
    <p:restoredTop sz="89645"/>
  </p:normalViewPr>
  <p:slideViewPr>
    <p:cSldViewPr snapToGrid="0">
      <p:cViewPr varScale="1">
        <p:scale>
          <a:sx n="109" d="100"/>
          <a:sy n="109" d="100"/>
        </p:scale>
        <p:origin x="9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37812-C4D0-0647-983A-CD0AFBE9B2BA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EE971-73DC-9E45-8558-55708FB03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7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4627B-676F-5368-A084-8E53D9815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EE403-CFCF-6145-5154-5E0EC45C3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B4861-7249-523D-17C3-7A67240C7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2D172-AC1B-FED6-5971-3771ED89A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EE971-73DC-9E45-8558-55708FB03C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02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7FE0A7C2-534A-61D5-D058-7F51F409F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97532691-9ED2-10D5-2632-5225676B69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DCC8D72B-7B03-72C0-7935-DA18BC9062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044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1E76AE46-9F22-F8F6-994A-F49E7AD20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AAC27C08-16D2-EDC6-8DA8-ADD243006C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D306B280-927B-83AC-78F8-06040D7F57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467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2429E756-0BE9-A1BA-15F6-10049C6EC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128939D4-5C13-29EF-1B7E-6CA0A1FD92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1BB225F6-453E-FF10-93AF-34E173D9D4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422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6BEAAD34-7D53-6C0D-B4A0-F6531C74C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1DCA9B05-4EEF-0671-1EC4-10D8FE6B96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AA459359-FE77-9213-B69B-8BC0C3F210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953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98A5-C087-784A-A5B7-6F3964D00BD6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33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22C03-01A9-4F42-845C-53AC1BF3EC44}" type="datetime1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0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6CEA-6EE9-9F4E-8761-AEA1AE3E0A70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2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786F-7959-ED46-8AC7-83E738059077}" type="datetime1">
              <a:rPr lang="en-US" smtClean="0"/>
              <a:t>9/28/26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3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C68E-9CBA-F44D-B3CB-0200A9CB87C1}" type="datetime1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085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04D4-685D-2449-86A4-BCF3637BD2E5}" type="datetime1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3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8CC3-A68A-274B-A662-799610CF23DF}" type="datetime1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3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C8720-36E2-864B-B3C5-BF9262029B32}" type="datetime1">
              <a:rPr lang="en-US" smtClean="0"/>
              <a:t>9/28/26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3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AA384C1-8BD6-B444-9DE2-60584836B2A9}" type="datetime1">
              <a:rPr lang="en-US" smtClean="0"/>
              <a:t>9/28/26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7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8C81-9867-8243-8420-12A7F4F78CA3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0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77DF-4683-9640-829B-489F07E6CB6F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4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6725842-727D-7840-B298-E7A02210D9AC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5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BDBC7F-911A-19ED-85EE-B748C4A29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C1A14-A21C-6C4F-89D0-4DDFDB9EC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8254" y="2030818"/>
            <a:ext cx="9075492" cy="279636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4000" dirty="0"/>
              <a:t>Sample Groups</a:t>
            </a:r>
          </a:p>
        </p:txBody>
      </p:sp>
    </p:spTree>
    <p:extLst>
      <p:ext uri="{BB962C8B-B14F-4D97-AF65-F5344CB8AC3E}">
        <p14:creationId xmlns:p14="http://schemas.microsoft.com/office/powerpoint/2010/main" val="2495705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6C0E334C-B2C3-826F-B40E-EC5D9100F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C850F8A8-B2B5-BC1E-ABC1-F4F119B2758A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Creating A Sample Group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CBED3AF-8205-DEF0-EC96-877910DC8DDF}"/>
              </a:ext>
            </a:extLst>
          </p:cNvPr>
          <p:cNvGrpSpPr/>
          <p:nvPr/>
        </p:nvGrpSpPr>
        <p:grpSpPr>
          <a:xfrm>
            <a:off x="1952023" y="4483583"/>
            <a:ext cx="4813851" cy="1923060"/>
            <a:chOff x="2120347" y="4411479"/>
            <a:chExt cx="4813851" cy="1923060"/>
          </a:xfrm>
        </p:grpSpPr>
        <p:sp>
          <p:nvSpPr>
            <p:cNvPr id="19" name="Shape 2">
              <a:extLst>
                <a:ext uri="{FF2B5EF4-FFF2-40B4-BE49-F238E27FC236}">
                  <a16:creationId xmlns:a16="http://schemas.microsoft.com/office/drawing/2014/main" id="{6B94C8F8-1164-9293-F316-8DF7BD01D447}"/>
                </a:ext>
              </a:extLst>
            </p:cNvPr>
            <p:cNvSpPr/>
            <p:nvPr/>
          </p:nvSpPr>
          <p:spPr>
            <a:xfrm>
              <a:off x="2120347" y="4411479"/>
              <a:ext cx="4813851" cy="1923060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3FBD3F39-F67E-20E3-5ADE-E684CD6A653E}"/>
                </a:ext>
              </a:extLst>
            </p:cNvPr>
            <p:cNvSpPr/>
            <p:nvPr/>
          </p:nvSpPr>
          <p:spPr>
            <a:xfrm>
              <a:off x="2344920" y="4547024"/>
              <a:ext cx="4495800" cy="1597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66768C"/>
                  </a:solidFill>
                </a:rPr>
                <a:t>Create a sample group to organize your samples based on lab/analyses, award, loan or other. </a:t>
              </a:r>
              <a:br>
                <a:rPr lang="en-US" dirty="0">
                  <a:solidFill>
                    <a:srgbClr val="66768C"/>
                  </a:solidFill>
                </a:rPr>
              </a:br>
              <a:br>
                <a:rPr lang="en-US" dirty="0">
                  <a:solidFill>
                    <a:srgbClr val="66768C"/>
                  </a:solidFill>
                </a:rPr>
              </a:br>
              <a:r>
                <a:rPr lang="en-US" dirty="0">
                  <a:solidFill>
                    <a:srgbClr val="66768C"/>
                  </a:solidFill>
                </a:rPr>
                <a:t>Create a name and description (optional).</a:t>
              </a:r>
              <a:br>
                <a:rPr lang="en-US" dirty="0">
                  <a:solidFill>
                    <a:srgbClr val="66768C"/>
                  </a:solidFill>
                </a:rPr>
              </a:br>
              <a:br>
                <a:rPr lang="en-US" dirty="0">
                  <a:solidFill>
                    <a:srgbClr val="66768C"/>
                  </a:solidFill>
                </a:rPr>
              </a:br>
              <a:r>
                <a:rPr lang="en-US" dirty="0">
                  <a:solidFill>
                    <a:srgbClr val="66768C"/>
                  </a:solidFill>
                </a:rPr>
                <a:t>Set your Group to </a:t>
              </a:r>
              <a:r>
                <a:rPr lang="en-US" b="1" dirty="0">
                  <a:solidFill>
                    <a:srgbClr val="66768C"/>
                  </a:solidFill>
                </a:rPr>
                <a:t>Private</a:t>
              </a:r>
              <a:r>
                <a:rPr lang="en-US" dirty="0">
                  <a:solidFill>
                    <a:srgbClr val="66768C"/>
                  </a:solidFill>
                </a:rPr>
                <a:t> or </a:t>
              </a:r>
              <a:r>
                <a:rPr lang="en-US" b="1" dirty="0">
                  <a:solidFill>
                    <a:srgbClr val="66768C"/>
                  </a:solidFill>
                </a:rPr>
                <a:t>Public</a:t>
              </a:r>
              <a:r>
                <a:rPr lang="en-US" dirty="0">
                  <a:solidFill>
                    <a:srgbClr val="66768C"/>
                  </a:solidFill>
                </a:rPr>
                <a:t>. 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31C5A9E-32AD-852B-F2A1-FD8EDF9481C7}"/>
              </a:ext>
            </a:extLst>
          </p:cNvPr>
          <p:cNvGrpSpPr/>
          <p:nvPr/>
        </p:nvGrpSpPr>
        <p:grpSpPr>
          <a:xfrm>
            <a:off x="381000" y="1387744"/>
            <a:ext cx="7902251" cy="2887769"/>
            <a:chOff x="1533851" y="1680765"/>
            <a:chExt cx="7902251" cy="2887769"/>
          </a:xfrm>
        </p:grpSpPr>
        <p:sp>
          <p:nvSpPr>
            <p:cNvPr id="17" name="Shape 2">
              <a:extLst>
                <a:ext uri="{FF2B5EF4-FFF2-40B4-BE49-F238E27FC236}">
                  <a16:creationId xmlns:a16="http://schemas.microsoft.com/office/drawing/2014/main" id="{858C8800-E700-2E69-10E8-A4E1B81BBBC5}"/>
                </a:ext>
              </a:extLst>
            </p:cNvPr>
            <p:cNvSpPr/>
            <p:nvPr/>
          </p:nvSpPr>
          <p:spPr>
            <a:xfrm>
              <a:off x="1533851" y="1680765"/>
              <a:ext cx="7902251" cy="2887769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49AFF65-81F5-4540-85C6-92063D88A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25600" y="1805449"/>
              <a:ext cx="7772400" cy="2627119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C68A7C1-2F31-0412-56FD-8883949590AB}"/>
              </a:ext>
            </a:extLst>
          </p:cNvPr>
          <p:cNvGrpSpPr/>
          <p:nvPr/>
        </p:nvGrpSpPr>
        <p:grpSpPr>
          <a:xfrm>
            <a:off x="6972300" y="2582487"/>
            <a:ext cx="4495800" cy="4032227"/>
            <a:chOff x="6972300" y="2582487"/>
            <a:chExt cx="4495800" cy="4032227"/>
          </a:xfrm>
        </p:grpSpPr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1BB2C463-7E88-FD4B-F4CB-455E51512D1D}"/>
                </a:ext>
              </a:extLst>
            </p:cNvPr>
            <p:cNvSpPr/>
            <p:nvPr/>
          </p:nvSpPr>
          <p:spPr>
            <a:xfrm>
              <a:off x="6972300" y="2582487"/>
              <a:ext cx="4495800" cy="4032227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25400">
              <a:solidFill>
                <a:srgbClr val="FFC000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2CE7174-D9E9-8F0A-5963-9194F23F1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24700" y="2717509"/>
              <a:ext cx="4211820" cy="3778250"/>
            </a:xfrm>
            <a:prstGeom prst="rect">
              <a:avLst/>
            </a:prstGeom>
          </p:spPr>
        </p:pic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E11CD54-041C-E4E2-2967-575D1CD9FBE4}"/>
              </a:ext>
            </a:extLst>
          </p:cNvPr>
          <p:cNvSpPr/>
          <p:nvPr/>
        </p:nvSpPr>
        <p:spPr>
          <a:xfrm>
            <a:off x="7124700" y="1650999"/>
            <a:ext cx="1120449" cy="382577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930F753-09A4-2C10-E35F-F3A5F9F9F7AA}"/>
              </a:ext>
            </a:extLst>
          </p:cNvPr>
          <p:cNvCxnSpPr>
            <a:cxnSpLocks/>
          </p:cNvCxnSpPr>
          <p:nvPr/>
        </p:nvCxnSpPr>
        <p:spPr>
          <a:xfrm>
            <a:off x="8245149" y="2017844"/>
            <a:ext cx="3170564" cy="563699"/>
          </a:xfrm>
          <a:prstGeom prst="line">
            <a:avLst/>
          </a:prstGeom>
          <a:ln w="19050">
            <a:solidFill>
              <a:srgbClr val="FFCA54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4D0EB6-5B8C-3F3C-F6BF-794537568B3F}"/>
              </a:ext>
            </a:extLst>
          </p:cNvPr>
          <p:cNvCxnSpPr>
            <a:cxnSpLocks/>
          </p:cNvCxnSpPr>
          <p:nvPr/>
        </p:nvCxnSpPr>
        <p:spPr>
          <a:xfrm flipH="1">
            <a:off x="6972300" y="2017843"/>
            <a:ext cx="152400" cy="622293"/>
          </a:xfrm>
          <a:prstGeom prst="line">
            <a:avLst/>
          </a:prstGeom>
          <a:ln w="19050">
            <a:solidFill>
              <a:srgbClr val="FFCA54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91F84AF-3C80-4770-10B5-A76661F656B4}"/>
              </a:ext>
            </a:extLst>
          </p:cNvPr>
          <p:cNvSpPr/>
          <p:nvPr/>
        </p:nvSpPr>
        <p:spPr>
          <a:xfrm>
            <a:off x="574020" y="3695385"/>
            <a:ext cx="892044" cy="236264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256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F60A1AE2-E003-EA94-8055-49C82C0AA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88C9D6B0-399F-744B-8C3C-8CB2289618B5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Adding to Sample Group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48CF9E4-C342-E48A-0AE6-861C6C02E3C8}"/>
              </a:ext>
            </a:extLst>
          </p:cNvPr>
          <p:cNvCxnSpPr>
            <a:cxnSpLocks/>
          </p:cNvCxnSpPr>
          <p:nvPr/>
        </p:nvCxnSpPr>
        <p:spPr>
          <a:xfrm flipH="1">
            <a:off x="6972300" y="2017843"/>
            <a:ext cx="152400" cy="622293"/>
          </a:xfrm>
          <a:prstGeom prst="line">
            <a:avLst/>
          </a:prstGeom>
          <a:ln w="19050">
            <a:solidFill>
              <a:srgbClr val="FFCA54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E21D596-C28E-BFEB-D9B9-742F3FC2F99B}"/>
              </a:ext>
            </a:extLst>
          </p:cNvPr>
          <p:cNvGrpSpPr/>
          <p:nvPr/>
        </p:nvGrpSpPr>
        <p:grpSpPr>
          <a:xfrm>
            <a:off x="381000" y="1334632"/>
            <a:ext cx="7863663" cy="2887769"/>
            <a:chOff x="381000" y="1387744"/>
            <a:chExt cx="7863663" cy="2887769"/>
          </a:xfrm>
        </p:grpSpPr>
        <p:sp>
          <p:nvSpPr>
            <p:cNvPr id="17" name="Shape 2">
              <a:extLst>
                <a:ext uri="{FF2B5EF4-FFF2-40B4-BE49-F238E27FC236}">
                  <a16:creationId xmlns:a16="http://schemas.microsoft.com/office/drawing/2014/main" id="{06ECE8FA-748D-7590-1341-43D79FFCD0A4}"/>
                </a:ext>
              </a:extLst>
            </p:cNvPr>
            <p:cNvSpPr/>
            <p:nvPr/>
          </p:nvSpPr>
          <p:spPr>
            <a:xfrm>
              <a:off x="381000" y="1387744"/>
              <a:ext cx="7863663" cy="2887769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7A97BC8-FD4E-A2F7-DA97-FDAD81522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787" y="1517851"/>
              <a:ext cx="7664087" cy="2654593"/>
            </a:xfrm>
            <a:prstGeom prst="rect">
              <a:avLst/>
            </a:prstGeom>
          </p:spPr>
        </p:pic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6CBFD938-FDB8-F4A5-BAEF-3DBAD9E57799}"/>
                </a:ext>
              </a:extLst>
            </p:cNvPr>
            <p:cNvSpPr/>
            <p:nvPr/>
          </p:nvSpPr>
          <p:spPr>
            <a:xfrm>
              <a:off x="604328" y="2617145"/>
              <a:ext cx="1476263" cy="1552387"/>
            </a:xfrm>
            <a:prstGeom prst="roundRect">
              <a:avLst>
                <a:gd name="adj" fmla="val 10335"/>
              </a:avLst>
            </a:prstGeom>
            <a:noFill/>
            <a:ln w="28575">
              <a:solidFill>
                <a:srgbClr val="FFCA5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9B3C8D1-4926-979F-59EC-8BABD612DAC7}"/>
              </a:ext>
            </a:extLst>
          </p:cNvPr>
          <p:cNvGrpSpPr/>
          <p:nvPr/>
        </p:nvGrpSpPr>
        <p:grpSpPr>
          <a:xfrm>
            <a:off x="2467807" y="2154028"/>
            <a:ext cx="8148995" cy="3054963"/>
            <a:chOff x="3198051" y="3135134"/>
            <a:chExt cx="8612949" cy="3228894"/>
          </a:xfrm>
        </p:grpSpPr>
        <p:sp>
          <p:nvSpPr>
            <p:cNvPr id="14" name="Shape 2">
              <a:extLst>
                <a:ext uri="{FF2B5EF4-FFF2-40B4-BE49-F238E27FC236}">
                  <a16:creationId xmlns:a16="http://schemas.microsoft.com/office/drawing/2014/main" id="{1CEAD7F7-46EC-0EB9-4FAC-CA7954FBB821}"/>
                </a:ext>
              </a:extLst>
            </p:cNvPr>
            <p:cNvSpPr/>
            <p:nvPr/>
          </p:nvSpPr>
          <p:spPr>
            <a:xfrm>
              <a:off x="3198051" y="3135134"/>
              <a:ext cx="8612949" cy="3228894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25400">
              <a:solidFill>
                <a:srgbClr val="FFC000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CB1CDA1-AF81-D33C-570F-2CB5503CD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17152" y="3194713"/>
              <a:ext cx="8502100" cy="2971668"/>
            </a:xfrm>
            <a:prstGeom prst="rect">
              <a:avLst/>
            </a:prstGeom>
          </p:spPr>
        </p:pic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ABA8C39D-D6F7-5D1B-E8B0-18F174D958D3}"/>
                </a:ext>
              </a:extLst>
            </p:cNvPr>
            <p:cNvSpPr/>
            <p:nvPr/>
          </p:nvSpPr>
          <p:spPr>
            <a:xfrm>
              <a:off x="10562503" y="3446346"/>
              <a:ext cx="1156749" cy="719212"/>
            </a:xfrm>
            <a:prstGeom prst="roundRect">
              <a:avLst>
                <a:gd name="adj" fmla="val 10335"/>
              </a:avLst>
            </a:prstGeom>
            <a:noFill/>
            <a:ln w="28575">
              <a:solidFill>
                <a:srgbClr val="FFCA5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07905CA-2027-5CDE-5047-1E3BBC15912C}"/>
              </a:ext>
            </a:extLst>
          </p:cNvPr>
          <p:cNvGrpSpPr/>
          <p:nvPr/>
        </p:nvGrpSpPr>
        <p:grpSpPr>
          <a:xfrm>
            <a:off x="493792" y="5372567"/>
            <a:ext cx="8377143" cy="1106497"/>
            <a:chOff x="792173" y="5482675"/>
            <a:chExt cx="8377143" cy="1106497"/>
          </a:xfrm>
        </p:grpSpPr>
        <p:sp>
          <p:nvSpPr>
            <p:cNvPr id="33" name="Shape 2">
              <a:extLst>
                <a:ext uri="{FF2B5EF4-FFF2-40B4-BE49-F238E27FC236}">
                  <a16:creationId xmlns:a16="http://schemas.microsoft.com/office/drawing/2014/main" id="{FDF7C1D7-1DE8-5F0C-54F4-A5898ED59BEA}"/>
                </a:ext>
              </a:extLst>
            </p:cNvPr>
            <p:cNvSpPr/>
            <p:nvPr/>
          </p:nvSpPr>
          <p:spPr>
            <a:xfrm>
              <a:off x="792173" y="5547249"/>
              <a:ext cx="6177602" cy="1000891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23" name="Text 5">
              <a:extLst>
                <a:ext uri="{FF2B5EF4-FFF2-40B4-BE49-F238E27FC236}">
                  <a16:creationId xmlns:a16="http://schemas.microsoft.com/office/drawing/2014/main" id="{FD18A8DA-FB56-A706-F194-1E173EB45A63}"/>
                </a:ext>
              </a:extLst>
            </p:cNvPr>
            <p:cNvSpPr/>
            <p:nvPr/>
          </p:nvSpPr>
          <p:spPr>
            <a:xfrm>
              <a:off x="1040039" y="5482675"/>
              <a:ext cx="8129277" cy="11064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Font typeface="+mj-lt"/>
                <a:buAutoNum type="arabicPeriod"/>
              </a:pPr>
              <a:r>
                <a:rPr lang="en-US" dirty="0">
                  <a:solidFill>
                    <a:srgbClr val="66768C"/>
                  </a:solidFill>
                </a:rPr>
                <a:t>To add samples to your group, return to the Samples page.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dirty="0">
                  <a:solidFill>
                    <a:srgbClr val="66768C"/>
                  </a:solidFill>
                </a:rPr>
                <a:t>Select the samples to </a:t>
              </a:r>
              <a:r>
                <a:rPr lang="en-US" b="1" dirty="0">
                  <a:solidFill>
                    <a:srgbClr val="66768C"/>
                  </a:solidFill>
                </a:rPr>
                <a:t>add to Sample Group</a:t>
              </a:r>
              <a:r>
                <a:rPr lang="en-US" dirty="0">
                  <a:solidFill>
                    <a:srgbClr val="66768C"/>
                  </a:solidFill>
                </a:rPr>
                <a:t>.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dirty="0">
                  <a:solidFill>
                    <a:srgbClr val="66768C"/>
                  </a:solidFill>
                </a:rPr>
                <a:t>Select the group you want to add the samples to.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1EE31D6-9BF5-4534-4ACF-D0E7C7BC3477}"/>
              </a:ext>
            </a:extLst>
          </p:cNvPr>
          <p:cNvGrpSpPr/>
          <p:nvPr/>
        </p:nvGrpSpPr>
        <p:grpSpPr>
          <a:xfrm>
            <a:off x="6824870" y="4116420"/>
            <a:ext cx="4997473" cy="2431363"/>
            <a:chOff x="459725" y="4455716"/>
            <a:chExt cx="4626140" cy="2243317"/>
          </a:xfrm>
        </p:grpSpPr>
        <p:sp>
          <p:nvSpPr>
            <p:cNvPr id="22" name="Shape 2">
              <a:extLst>
                <a:ext uri="{FF2B5EF4-FFF2-40B4-BE49-F238E27FC236}">
                  <a16:creationId xmlns:a16="http://schemas.microsoft.com/office/drawing/2014/main" id="{A5B8E89B-8CF2-6BB8-9581-272D9BF1BC76}"/>
                </a:ext>
              </a:extLst>
            </p:cNvPr>
            <p:cNvSpPr/>
            <p:nvPr/>
          </p:nvSpPr>
          <p:spPr>
            <a:xfrm>
              <a:off x="459725" y="4455716"/>
              <a:ext cx="4626140" cy="2243317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25400">
              <a:solidFill>
                <a:srgbClr val="FFC000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dirty="0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C74A3B94-8AE9-355C-F3DE-D75DBD2D3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8450" y="4535463"/>
              <a:ext cx="4468690" cy="2090855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6179866-49D4-7F0F-CF1D-5E44B94BA1B3}"/>
              </a:ext>
            </a:extLst>
          </p:cNvPr>
          <p:cNvGrpSpPr/>
          <p:nvPr/>
        </p:nvGrpSpPr>
        <p:grpSpPr>
          <a:xfrm>
            <a:off x="262587" y="2566113"/>
            <a:ext cx="288269" cy="304417"/>
            <a:chOff x="643848" y="1739377"/>
            <a:chExt cx="384238" cy="384048"/>
          </a:xfrm>
        </p:grpSpPr>
        <p:sp>
          <p:nvSpPr>
            <p:cNvPr id="36" name="Shape 3">
              <a:extLst>
                <a:ext uri="{FF2B5EF4-FFF2-40B4-BE49-F238E27FC236}">
                  <a16:creationId xmlns:a16="http://schemas.microsoft.com/office/drawing/2014/main" id="{F0CEE900-53E6-9D8E-DDF0-756B7489A4AC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Text 4">
              <a:extLst>
                <a:ext uri="{FF2B5EF4-FFF2-40B4-BE49-F238E27FC236}">
                  <a16:creationId xmlns:a16="http://schemas.microsoft.com/office/drawing/2014/main" id="{9F9CEC96-879F-9C15-B2F6-BF02E45185B3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1</a:t>
              </a:r>
              <a:endParaRPr lang="en-US" sz="14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AD7F0CA-CDBC-518C-E59C-45653666DF65}"/>
              </a:ext>
            </a:extLst>
          </p:cNvPr>
          <p:cNvGrpSpPr/>
          <p:nvPr/>
        </p:nvGrpSpPr>
        <p:grpSpPr>
          <a:xfrm>
            <a:off x="4312830" y="3124583"/>
            <a:ext cx="288269" cy="304417"/>
            <a:chOff x="643848" y="1739377"/>
            <a:chExt cx="384238" cy="384048"/>
          </a:xfrm>
        </p:grpSpPr>
        <p:sp>
          <p:nvSpPr>
            <p:cNvPr id="39" name="Shape 3">
              <a:extLst>
                <a:ext uri="{FF2B5EF4-FFF2-40B4-BE49-F238E27FC236}">
                  <a16:creationId xmlns:a16="http://schemas.microsoft.com/office/drawing/2014/main" id="{668B7C78-6773-4E91-8703-F93635EE5295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Text 4">
              <a:extLst>
                <a:ext uri="{FF2B5EF4-FFF2-40B4-BE49-F238E27FC236}">
                  <a16:creationId xmlns:a16="http://schemas.microsoft.com/office/drawing/2014/main" id="{F62AB110-D2C4-ADC6-3A15-0C7C0CAFA98A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2</a:t>
              </a:r>
              <a:endParaRPr lang="en-US" sz="140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4D8BAD2-35D2-7588-8CA0-A6165CDF3DEB}"/>
              </a:ext>
            </a:extLst>
          </p:cNvPr>
          <p:cNvGrpSpPr/>
          <p:nvPr/>
        </p:nvGrpSpPr>
        <p:grpSpPr>
          <a:xfrm>
            <a:off x="11419583" y="4183162"/>
            <a:ext cx="288269" cy="304417"/>
            <a:chOff x="643848" y="1739377"/>
            <a:chExt cx="384238" cy="384048"/>
          </a:xfrm>
        </p:grpSpPr>
        <p:sp>
          <p:nvSpPr>
            <p:cNvPr id="42" name="Shape 3">
              <a:extLst>
                <a:ext uri="{FF2B5EF4-FFF2-40B4-BE49-F238E27FC236}">
                  <a16:creationId xmlns:a16="http://schemas.microsoft.com/office/drawing/2014/main" id="{C2FB97B0-182A-F8C9-9494-B50B87D85655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Text 4">
              <a:extLst>
                <a:ext uri="{FF2B5EF4-FFF2-40B4-BE49-F238E27FC236}">
                  <a16:creationId xmlns:a16="http://schemas.microsoft.com/office/drawing/2014/main" id="{1BBEC090-B564-9F29-FEAF-4CED1021E560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3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96398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4202DE96-11BF-689C-2D0B-4F46D63E3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2">
            <a:extLst>
              <a:ext uri="{FF2B5EF4-FFF2-40B4-BE49-F238E27FC236}">
                <a16:creationId xmlns:a16="http://schemas.microsoft.com/office/drawing/2014/main" id="{F851AA0A-E834-087A-FD27-78BACC139AD0}"/>
              </a:ext>
            </a:extLst>
          </p:cNvPr>
          <p:cNvSpPr/>
          <p:nvPr/>
        </p:nvSpPr>
        <p:spPr>
          <a:xfrm>
            <a:off x="381000" y="1387745"/>
            <a:ext cx="7863663" cy="2193656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7D9DF4-27B5-9DE2-FF61-3693A23E0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31" y="1479175"/>
            <a:ext cx="7772400" cy="1949825"/>
          </a:xfrm>
          <a:prstGeom prst="rect">
            <a:avLst/>
          </a:prstGeom>
        </p:spPr>
      </p:pic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4095C18A-6AC4-B6E6-97A2-ADD56C44A84F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Removing &amp; Deleting Sample Group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78695C0-7F02-F02F-D5FD-334EE2406BB5}"/>
              </a:ext>
            </a:extLst>
          </p:cNvPr>
          <p:cNvGrpSpPr/>
          <p:nvPr/>
        </p:nvGrpSpPr>
        <p:grpSpPr>
          <a:xfrm>
            <a:off x="8374999" y="1203033"/>
            <a:ext cx="3436001" cy="1597096"/>
            <a:chOff x="2120347" y="4547024"/>
            <a:chExt cx="3493604" cy="1597096"/>
          </a:xfrm>
        </p:grpSpPr>
        <p:sp>
          <p:nvSpPr>
            <p:cNvPr id="19" name="Shape 2">
              <a:extLst>
                <a:ext uri="{FF2B5EF4-FFF2-40B4-BE49-F238E27FC236}">
                  <a16:creationId xmlns:a16="http://schemas.microsoft.com/office/drawing/2014/main" id="{2814CD5C-1113-C1CE-DDFD-CE21201BF594}"/>
                </a:ext>
              </a:extLst>
            </p:cNvPr>
            <p:cNvSpPr/>
            <p:nvPr/>
          </p:nvSpPr>
          <p:spPr>
            <a:xfrm>
              <a:off x="2120347" y="4737442"/>
              <a:ext cx="3493604" cy="1204920"/>
            </a:xfrm>
            <a:prstGeom prst="roundRect">
              <a:avLst>
                <a:gd name="adj" fmla="val 4521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61D4D416-81C9-A923-CF58-5C25879B3BCF}"/>
                </a:ext>
              </a:extLst>
            </p:cNvPr>
            <p:cNvSpPr/>
            <p:nvPr/>
          </p:nvSpPr>
          <p:spPr>
            <a:xfrm>
              <a:off x="2344920" y="4547024"/>
              <a:ext cx="3136510" cy="1597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66768C"/>
                  </a:solidFill>
                </a:rPr>
                <a:t>You can share your group and associated records by clicking the Shareable URL to copy.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6A82047-0F35-ED6B-88F2-B2208B73D34D}"/>
              </a:ext>
            </a:extLst>
          </p:cNvPr>
          <p:cNvGrpSpPr/>
          <p:nvPr/>
        </p:nvGrpSpPr>
        <p:grpSpPr>
          <a:xfrm>
            <a:off x="381000" y="3672831"/>
            <a:ext cx="3414305" cy="2647050"/>
            <a:chOff x="2120347" y="4763737"/>
            <a:chExt cx="3032841" cy="1884456"/>
          </a:xfrm>
        </p:grpSpPr>
        <p:sp>
          <p:nvSpPr>
            <p:cNvPr id="22" name="Shape 2">
              <a:extLst>
                <a:ext uri="{FF2B5EF4-FFF2-40B4-BE49-F238E27FC236}">
                  <a16:creationId xmlns:a16="http://schemas.microsoft.com/office/drawing/2014/main" id="{BC070E4B-4941-37EE-565E-9D9A5C0F0D39}"/>
                </a:ext>
              </a:extLst>
            </p:cNvPr>
            <p:cNvSpPr/>
            <p:nvPr/>
          </p:nvSpPr>
          <p:spPr>
            <a:xfrm>
              <a:off x="2120347" y="4838066"/>
              <a:ext cx="3032841" cy="1764040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dirty="0"/>
            </a:p>
          </p:txBody>
        </p:sp>
        <p:sp>
          <p:nvSpPr>
            <p:cNvPr id="23" name="Text 5">
              <a:extLst>
                <a:ext uri="{FF2B5EF4-FFF2-40B4-BE49-F238E27FC236}">
                  <a16:creationId xmlns:a16="http://schemas.microsoft.com/office/drawing/2014/main" id="{413A898C-759B-3C79-82AD-86DAB442213F}"/>
                </a:ext>
              </a:extLst>
            </p:cNvPr>
            <p:cNvSpPr/>
            <p:nvPr/>
          </p:nvSpPr>
          <p:spPr>
            <a:xfrm>
              <a:off x="2274960" y="4763737"/>
              <a:ext cx="2878228" cy="1884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66768C"/>
                  </a:solidFill>
                </a:rPr>
                <a:t>Click your group to access the samples associated with it.  </a:t>
              </a:r>
              <a:br>
                <a:rPr lang="en-US" dirty="0">
                  <a:solidFill>
                    <a:srgbClr val="66768C"/>
                  </a:solidFill>
                </a:rPr>
              </a:br>
              <a:br>
                <a:rPr lang="en-US" dirty="0">
                  <a:solidFill>
                    <a:srgbClr val="66768C"/>
                  </a:solidFill>
                </a:rPr>
              </a:br>
              <a:r>
                <a:rPr lang="en-US" dirty="0">
                  <a:solidFill>
                    <a:srgbClr val="66768C"/>
                  </a:solidFill>
                </a:rPr>
                <a:t>Click on the samples you want to remove.</a:t>
              </a:r>
              <a:br>
                <a:rPr lang="en-US" dirty="0">
                  <a:solidFill>
                    <a:srgbClr val="66768C"/>
                  </a:solidFill>
                </a:rPr>
              </a:br>
              <a:br>
                <a:rPr lang="en-US" dirty="0">
                  <a:solidFill>
                    <a:srgbClr val="66768C"/>
                  </a:solidFill>
                </a:rPr>
              </a:br>
              <a:r>
                <a:rPr lang="en-US" dirty="0">
                  <a:solidFill>
                    <a:srgbClr val="66768C"/>
                  </a:solidFill>
                </a:rPr>
                <a:t>Click </a:t>
              </a:r>
              <a:r>
                <a:rPr lang="en-US" b="1" dirty="0">
                  <a:solidFill>
                    <a:srgbClr val="66768C"/>
                  </a:solidFill>
                </a:rPr>
                <a:t>Remove Samples</a:t>
              </a:r>
              <a:r>
                <a:rPr lang="en-US" dirty="0">
                  <a:solidFill>
                    <a:srgbClr val="66768C"/>
                  </a:solidFill>
                </a:rPr>
                <a:t> from Group.</a:t>
              </a:r>
            </a:p>
          </p:txBody>
        </p:sp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C64D16F-7D84-CB02-588F-F806C38EF78B}"/>
              </a:ext>
            </a:extLst>
          </p:cNvPr>
          <p:cNvSpPr/>
          <p:nvPr/>
        </p:nvSpPr>
        <p:spPr>
          <a:xfrm>
            <a:off x="511336" y="2243026"/>
            <a:ext cx="1518355" cy="1227784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F84A9964-B6B4-0ACC-1439-4C462A5CB0DA}"/>
              </a:ext>
            </a:extLst>
          </p:cNvPr>
          <p:cNvSpPr/>
          <p:nvPr/>
        </p:nvSpPr>
        <p:spPr>
          <a:xfrm>
            <a:off x="3912907" y="2904737"/>
            <a:ext cx="7863663" cy="3350406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25400">
            <a:solidFill>
              <a:srgbClr val="FFC00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265A62-A599-B35D-A0A8-2D02EE0E5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713" y="2990547"/>
            <a:ext cx="7683158" cy="3183676"/>
          </a:xfrm>
          <a:prstGeom prst="rect">
            <a:avLst/>
          </a:prstGeom>
        </p:spPr>
      </p:pic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287C4F8-71EC-F53A-F8AD-9275FDFE4787}"/>
              </a:ext>
            </a:extLst>
          </p:cNvPr>
          <p:cNvSpPr/>
          <p:nvPr/>
        </p:nvSpPr>
        <p:spPr>
          <a:xfrm>
            <a:off x="10370127" y="3948544"/>
            <a:ext cx="1288328" cy="594895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4F12800-F372-7CB1-75B6-017C71F725A8}"/>
              </a:ext>
            </a:extLst>
          </p:cNvPr>
          <p:cNvSpPr/>
          <p:nvPr/>
        </p:nvSpPr>
        <p:spPr>
          <a:xfrm>
            <a:off x="5937613" y="4996356"/>
            <a:ext cx="5593537" cy="724950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1903432-3895-C25C-3A07-9A564F10B339}"/>
              </a:ext>
            </a:extLst>
          </p:cNvPr>
          <p:cNvSpPr/>
          <p:nvPr/>
        </p:nvSpPr>
        <p:spPr>
          <a:xfrm>
            <a:off x="4002714" y="3283527"/>
            <a:ext cx="4517832" cy="250081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515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0DFBC19E-F19A-1621-128B-768E5FFBA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DEBAF075-1E8C-9F1C-C45C-8764678FD854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VIDEO Tutorial</a:t>
            </a:r>
          </a:p>
        </p:txBody>
      </p:sp>
      <p:pic>
        <p:nvPicPr>
          <p:cNvPr id="2" name="Sample Groups">
            <a:hlinkClick r:id="" action="ppaction://media"/>
            <a:extLst>
              <a:ext uri="{FF2B5EF4-FFF2-40B4-BE49-F238E27FC236}">
                <a16:creationId xmlns:a16="http://schemas.microsoft.com/office/drawing/2014/main" id="{386D2043-EB61-532F-7769-3F111B7BBB5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87756" y="1145687"/>
            <a:ext cx="7816487" cy="564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81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3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Custom 4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316672"/>
      </a:accent1>
      <a:accent2>
        <a:srgbClr val="298397"/>
      </a:accent2>
      <a:accent3>
        <a:srgbClr val="7EC5D3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{98908F5D-E017-2A45-969B-0B827CAB7295}tf10001120</Template>
  <TotalTime>13333</TotalTime>
  <Words>140</Words>
  <Application>Microsoft Macintosh PowerPoint</Application>
  <PresentationFormat>Widescreen</PresentationFormat>
  <Paragraphs>15</Paragraphs>
  <Slides>5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Gill Sans MT</vt:lpstr>
      <vt:lpstr>Parcel</vt:lpstr>
      <vt:lpstr>Sample Groups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86</cp:revision>
  <dcterms:created xsi:type="dcterms:W3CDTF">2023-01-20T14:09:08Z</dcterms:created>
  <dcterms:modified xsi:type="dcterms:W3CDTF">2026-09-28T21:24:23Z</dcterms:modified>
</cp:coreProperties>
</file>