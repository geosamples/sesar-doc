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6"/>
  </p:notesMasterIdLst>
  <p:sldIdLst>
    <p:sldId id="335" r:id="rId2"/>
    <p:sldId id="378" r:id="rId3"/>
    <p:sldId id="377" r:id="rId4"/>
    <p:sldId id="37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68C"/>
    <a:srgbClr val="FFCA54"/>
    <a:srgbClr val="FF972E"/>
    <a:srgbClr val="57A9BD"/>
    <a:srgbClr val="3D3D3D"/>
    <a:srgbClr val="FFB329"/>
    <a:srgbClr val="7FFFE7"/>
    <a:srgbClr val="1A1E8A"/>
    <a:srgbClr val="F898B5"/>
    <a:srgbClr val="1F39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57"/>
    <p:restoredTop sz="89645"/>
  </p:normalViewPr>
  <p:slideViewPr>
    <p:cSldViewPr snapToGrid="0">
      <p:cViewPr varScale="1">
        <p:scale>
          <a:sx n="109" d="100"/>
          <a:sy n="109" d="100"/>
        </p:scale>
        <p:origin x="9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37812-C4D0-0647-983A-CD0AFBE9B2BA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EE971-73DC-9E45-8558-55708FB03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7ABF-B1FC-2B4D-772B-7838AD175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34049-3148-23B3-51E8-8AE4B3A37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0D179-88CE-04FC-5C5C-E5055ACC9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379E9-8D88-3316-21FC-BC13277DC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EE971-73DC-9E45-8558-55708FB03C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37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2777B9A0-ED08-EA2D-520D-ADCFAC27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9ACD0744-9039-63C4-65FC-44F91993E2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533F22F3-A3FB-AE53-DD98-0770E62916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858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5C93F00E-09CA-047C-AA50-DF9886103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1AC73826-A38C-7ED4-6335-9E60670E8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3D17FB42-B87E-9A8C-D6D7-3750865612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906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990D4D16-FD34-3370-E7E8-01ED15DD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DCBC7558-4E41-1FF7-ABA3-C6E433C5F7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9C149958-F182-4646-489C-ABE9B4C36A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04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98A5-C087-784A-A5B7-6F3964D00BD6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2C03-01A9-4F42-845C-53AC1BF3EC44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0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6CEA-6EE9-9F4E-8761-AEA1AE3E0A70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786F-7959-ED46-8AC7-83E738059077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3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C68E-9CBA-F44D-B3CB-0200A9CB87C1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8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04D4-685D-2449-86A4-BCF3637BD2E5}" type="datetime1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3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8CC3-A68A-274B-A662-799610CF23DF}" type="datetime1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3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8720-36E2-864B-B3C5-BF9262029B32}" type="datetime1">
              <a:rPr lang="en-US" smtClean="0"/>
              <a:t>9/24/26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3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AA384C1-8BD6-B444-9DE2-60584836B2A9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7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8C81-9867-8243-8420-12A7F4F78CA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0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77DF-4683-9640-829B-489F07E6CB6F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4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6725842-727D-7840-B298-E7A02210D9AC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5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5152E-70B8-0C1F-FBDC-1E1B88395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C40CE-DBAE-ECFD-A82F-BF32DC019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254" y="2030818"/>
            <a:ext cx="9075492" cy="279636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4000" dirty="0"/>
              <a:t>Data &amp; Outputs</a:t>
            </a:r>
          </a:p>
        </p:txBody>
      </p:sp>
    </p:spTree>
    <p:extLst>
      <p:ext uri="{BB962C8B-B14F-4D97-AF65-F5344CB8AC3E}">
        <p14:creationId xmlns:p14="http://schemas.microsoft.com/office/powerpoint/2010/main" val="2980985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1DC75B96-8924-E039-6000-C8F624582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066D68A7-DC26-CD55-3629-023049DD3554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Data &amp; Outputs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ACB1B0-11F8-99C5-C175-9E38F0CFBCA7}"/>
              </a:ext>
            </a:extLst>
          </p:cNvPr>
          <p:cNvGrpSpPr/>
          <p:nvPr/>
        </p:nvGrpSpPr>
        <p:grpSpPr>
          <a:xfrm>
            <a:off x="507386" y="1291771"/>
            <a:ext cx="5436217" cy="5367618"/>
            <a:chOff x="909016" y="1291771"/>
            <a:chExt cx="5436217" cy="5367618"/>
          </a:xfrm>
        </p:grpSpPr>
        <p:sp>
          <p:nvSpPr>
            <p:cNvPr id="2" name="Shape 2">
              <a:extLst>
                <a:ext uri="{FF2B5EF4-FFF2-40B4-BE49-F238E27FC236}">
                  <a16:creationId xmlns:a16="http://schemas.microsoft.com/office/drawing/2014/main" id="{1C1280CC-F04C-09A3-5164-8B47489B12E9}"/>
                </a:ext>
              </a:extLst>
            </p:cNvPr>
            <p:cNvSpPr/>
            <p:nvPr/>
          </p:nvSpPr>
          <p:spPr>
            <a:xfrm>
              <a:off x="909016" y="1291771"/>
              <a:ext cx="5436217" cy="5367618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dirty="0"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38C9DD9C-EDAC-4F15-D5DD-1A737AA0E484}"/>
                </a:ext>
              </a:extLst>
            </p:cNvPr>
            <p:cNvSpPr/>
            <p:nvPr/>
          </p:nvSpPr>
          <p:spPr>
            <a:xfrm>
              <a:off x="997606" y="1353599"/>
              <a:ext cx="5236280" cy="5194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66768C"/>
                  </a:solidFill>
                </a:rPr>
                <a:t>Data &amp; Outputs </a:t>
              </a:r>
              <a:r>
                <a:rPr lang="en-US" sz="1300" dirty="0">
                  <a:solidFill>
                    <a:srgbClr val="66768C"/>
                  </a:solidFill>
                </a:rPr>
                <a:t>in </a:t>
              </a:r>
              <a:r>
                <a:rPr lang="en-US" sz="1300" b="1" dirty="0">
                  <a:solidFill>
                    <a:srgbClr val="66768C"/>
                  </a:solidFill>
                </a:rPr>
                <a:t>Samples</a:t>
              </a:r>
              <a:r>
                <a:rPr lang="en-US" sz="1300" dirty="0">
                  <a:solidFill>
                    <a:srgbClr val="66768C"/>
                  </a:solidFill>
                </a:rPr>
                <a:t> is the designated location where your related </a:t>
              </a:r>
              <a:r>
                <a:rPr lang="en-US" sz="1300" b="1" dirty="0">
                  <a:solidFill>
                    <a:srgbClr val="66768C"/>
                  </a:solidFill>
                </a:rPr>
                <a:t>publications</a:t>
              </a:r>
              <a:r>
                <a:rPr lang="en-US" sz="1300" dirty="0">
                  <a:solidFill>
                    <a:srgbClr val="66768C"/>
                  </a:solidFill>
                </a:rPr>
                <a:t>, </a:t>
              </a:r>
              <a:r>
                <a:rPr lang="en-US" sz="1300" b="1" dirty="0">
                  <a:solidFill>
                    <a:srgbClr val="66768C"/>
                  </a:solidFill>
                </a:rPr>
                <a:t>datasets</a:t>
              </a:r>
              <a:r>
                <a:rPr lang="en-US" sz="1300" dirty="0">
                  <a:solidFill>
                    <a:srgbClr val="66768C"/>
                  </a:solidFill>
                </a:rPr>
                <a:t>, and </a:t>
              </a:r>
              <a:r>
                <a:rPr lang="en-US" sz="1300" b="1" dirty="0">
                  <a:solidFill>
                    <a:srgbClr val="66768C"/>
                  </a:solidFill>
                </a:rPr>
                <a:t>other resources </a:t>
              </a:r>
              <a:r>
                <a:rPr lang="en-US" sz="1300" dirty="0">
                  <a:solidFill>
                    <a:srgbClr val="66768C"/>
                  </a:solidFill>
                </a:rPr>
                <a:t>are stored. </a:t>
              </a:r>
              <a:endParaRPr lang="en-US" sz="1300" b="1" dirty="0">
                <a:solidFill>
                  <a:srgbClr val="66768C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421D1F9-CA39-1652-5137-2B0273ED3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7173" y="1934830"/>
              <a:ext cx="5277234" cy="4661913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11ED02-E219-C348-CBA6-B7E5BAC3EB49}"/>
              </a:ext>
            </a:extLst>
          </p:cNvPr>
          <p:cNvGrpSpPr/>
          <p:nvPr/>
        </p:nvGrpSpPr>
        <p:grpSpPr>
          <a:xfrm>
            <a:off x="6085727" y="1291771"/>
            <a:ext cx="3066734" cy="1977804"/>
            <a:chOff x="7524566" y="1632857"/>
            <a:chExt cx="3758418" cy="2423886"/>
          </a:xfrm>
        </p:grpSpPr>
        <p:sp>
          <p:nvSpPr>
            <p:cNvPr id="43" name="Shape 2">
              <a:extLst>
                <a:ext uri="{FF2B5EF4-FFF2-40B4-BE49-F238E27FC236}">
                  <a16:creationId xmlns:a16="http://schemas.microsoft.com/office/drawing/2014/main" id="{2B4DE491-FDEF-CF71-308C-F66DF6EFC898}"/>
                </a:ext>
              </a:extLst>
            </p:cNvPr>
            <p:cNvSpPr/>
            <p:nvPr/>
          </p:nvSpPr>
          <p:spPr>
            <a:xfrm>
              <a:off x="7524566" y="1632857"/>
              <a:ext cx="3758418" cy="2423886"/>
            </a:xfrm>
            <a:prstGeom prst="roundRect">
              <a:avLst>
                <a:gd name="adj" fmla="val 1646"/>
              </a:avLst>
            </a:prstGeom>
            <a:noFill/>
            <a:ln w="25400">
              <a:solidFill>
                <a:srgbClr val="FFCA54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E8B01D5-BFD1-F586-4DB0-7DF2D6295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89157" y="1719943"/>
              <a:ext cx="3657445" cy="2255637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4579BA-6154-2782-BDAB-F4E31B67D742}"/>
              </a:ext>
            </a:extLst>
          </p:cNvPr>
          <p:cNvGrpSpPr/>
          <p:nvPr/>
        </p:nvGrpSpPr>
        <p:grpSpPr>
          <a:xfrm>
            <a:off x="5204625" y="3379743"/>
            <a:ext cx="586578" cy="2533126"/>
            <a:chOff x="5268687" y="3353380"/>
            <a:chExt cx="586578" cy="2533126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E65C5BE5-7E03-76AD-28F9-9971B407DF52}"/>
                </a:ext>
              </a:extLst>
            </p:cNvPr>
            <p:cNvSpPr/>
            <p:nvPr/>
          </p:nvSpPr>
          <p:spPr>
            <a:xfrm>
              <a:off x="5283201" y="3353380"/>
              <a:ext cx="572064" cy="320277"/>
            </a:xfrm>
            <a:prstGeom prst="roundRect">
              <a:avLst>
                <a:gd name="adj" fmla="val 10335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324407B-6A92-12C4-D6D5-060FDD55A051}"/>
                </a:ext>
              </a:extLst>
            </p:cNvPr>
            <p:cNvSpPr/>
            <p:nvPr/>
          </p:nvSpPr>
          <p:spPr>
            <a:xfrm>
              <a:off x="5268687" y="5566229"/>
              <a:ext cx="572064" cy="320277"/>
            </a:xfrm>
            <a:prstGeom prst="roundRect">
              <a:avLst>
                <a:gd name="adj" fmla="val 10335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1E4B2F3-AF94-2473-C2CA-0C5D717D3A37}"/>
                </a:ext>
              </a:extLst>
            </p:cNvPr>
            <p:cNvSpPr/>
            <p:nvPr/>
          </p:nvSpPr>
          <p:spPr>
            <a:xfrm>
              <a:off x="5275944" y="4431497"/>
              <a:ext cx="572064" cy="320277"/>
            </a:xfrm>
            <a:prstGeom prst="roundRect">
              <a:avLst>
                <a:gd name="adj" fmla="val 10335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ACCD8F5-41BE-F26C-5439-312D98A64D2C}"/>
              </a:ext>
            </a:extLst>
          </p:cNvPr>
          <p:cNvGrpSpPr/>
          <p:nvPr/>
        </p:nvGrpSpPr>
        <p:grpSpPr>
          <a:xfrm>
            <a:off x="6097236" y="3379743"/>
            <a:ext cx="3066734" cy="3419163"/>
            <a:chOff x="7138949" y="3373522"/>
            <a:chExt cx="3066734" cy="3419163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839B378B-93BF-8B9D-99FB-444875AD8DEB}"/>
                </a:ext>
              </a:extLst>
            </p:cNvPr>
            <p:cNvSpPr/>
            <p:nvPr/>
          </p:nvSpPr>
          <p:spPr>
            <a:xfrm>
              <a:off x="7138949" y="3373522"/>
              <a:ext cx="3066734" cy="3419163"/>
            </a:xfrm>
            <a:prstGeom prst="roundRect">
              <a:avLst>
                <a:gd name="adj" fmla="val 1646"/>
              </a:avLst>
            </a:prstGeom>
            <a:noFill/>
            <a:ln w="25400">
              <a:solidFill>
                <a:srgbClr val="FFCA54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64449F5-4021-180F-C142-2902585F1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49886" y="3466622"/>
              <a:ext cx="2830285" cy="3253491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6AF5D4A-2A53-F598-8728-9DA19B4B62C9}"/>
              </a:ext>
            </a:extLst>
          </p:cNvPr>
          <p:cNvGrpSpPr/>
          <p:nvPr/>
        </p:nvGrpSpPr>
        <p:grpSpPr>
          <a:xfrm>
            <a:off x="9274907" y="2059326"/>
            <a:ext cx="2395623" cy="3853543"/>
            <a:chOff x="9262980" y="2278971"/>
            <a:chExt cx="2395623" cy="3853543"/>
          </a:xfrm>
        </p:grpSpPr>
        <p:sp>
          <p:nvSpPr>
            <p:cNvPr id="20" name="Shape 2">
              <a:extLst>
                <a:ext uri="{FF2B5EF4-FFF2-40B4-BE49-F238E27FC236}">
                  <a16:creationId xmlns:a16="http://schemas.microsoft.com/office/drawing/2014/main" id="{D3428F55-E1E4-0E30-ED74-DC387E58A5E6}"/>
                </a:ext>
              </a:extLst>
            </p:cNvPr>
            <p:cNvSpPr/>
            <p:nvPr/>
          </p:nvSpPr>
          <p:spPr>
            <a:xfrm>
              <a:off x="9262980" y="2278971"/>
              <a:ext cx="2395623" cy="3853543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50" name="Text 5">
              <a:extLst>
                <a:ext uri="{FF2B5EF4-FFF2-40B4-BE49-F238E27FC236}">
                  <a16:creationId xmlns:a16="http://schemas.microsoft.com/office/drawing/2014/main" id="{5A1C9F43-FAA6-18A2-C2FF-6087FD3A5045}"/>
                </a:ext>
              </a:extLst>
            </p:cNvPr>
            <p:cNvSpPr/>
            <p:nvPr/>
          </p:nvSpPr>
          <p:spPr>
            <a:xfrm>
              <a:off x="9342806" y="2398636"/>
              <a:ext cx="2235968" cy="3193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66768C"/>
                  </a:solidFill>
                </a:rPr>
                <a:t>Steps for adding publication, dataset, and other resources is the same. </a:t>
              </a:r>
              <a:br>
                <a:rPr lang="en-US" sz="1300" dirty="0">
                  <a:solidFill>
                    <a:srgbClr val="66768C"/>
                  </a:solidFill>
                </a:rPr>
              </a:br>
              <a:br>
                <a:rPr lang="en-US" sz="1300" dirty="0">
                  <a:solidFill>
                    <a:srgbClr val="66768C"/>
                  </a:solidFill>
                </a:rPr>
              </a:br>
              <a:r>
                <a:rPr lang="en-US" sz="1300" dirty="0">
                  <a:solidFill>
                    <a:srgbClr val="66768C"/>
                  </a:solidFill>
                </a:rPr>
                <a:t>Click </a:t>
              </a:r>
              <a:r>
                <a:rPr lang="en-US" sz="1300" b="1" dirty="0">
                  <a:solidFill>
                    <a:srgbClr val="66768C"/>
                  </a:solidFill>
                </a:rPr>
                <a:t>Add </a:t>
              </a:r>
              <a:r>
                <a:rPr lang="en-US" sz="1300" dirty="0">
                  <a:solidFill>
                    <a:srgbClr val="66768C"/>
                  </a:solidFill>
                </a:rPr>
                <a:t>to input a new publication, dataset, or other resource. </a:t>
              </a:r>
            </a:p>
            <a:p>
              <a:pPr marL="0" indent="0">
                <a:buNone/>
              </a:pPr>
              <a:endParaRPr lang="en-US" sz="1300" b="1" dirty="0">
                <a:solidFill>
                  <a:srgbClr val="66768C"/>
                </a:solidFill>
              </a:endParaRPr>
            </a:p>
            <a:p>
              <a:pPr marL="0" indent="0">
                <a:buNone/>
              </a:pPr>
              <a:r>
                <a:rPr lang="en-US" sz="1300" dirty="0">
                  <a:solidFill>
                    <a:srgbClr val="66768C"/>
                  </a:solidFill>
                </a:rPr>
                <a:t>Input the </a:t>
              </a:r>
              <a:r>
                <a:rPr lang="en-US" sz="1300" b="1" dirty="0">
                  <a:solidFill>
                    <a:srgbClr val="66768C"/>
                  </a:solidFill>
                </a:rPr>
                <a:t>DOI</a:t>
              </a:r>
              <a:r>
                <a:rPr lang="en-US" sz="1300" dirty="0">
                  <a:solidFill>
                    <a:srgbClr val="66768C"/>
                  </a:solidFill>
                </a:rPr>
                <a:t> in </a:t>
              </a:r>
              <a:r>
                <a:rPr lang="en-US" sz="1300" b="1" dirty="0">
                  <a:solidFill>
                    <a:srgbClr val="66768C"/>
                  </a:solidFill>
                </a:rPr>
                <a:t>DOI Lookup </a:t>
              </a:r>
              <a:r>
                <a:rPr lang="en-US" sz="1300" dirty="0">
                  <a:solidFill>
                    <a:srgbClr val="66768C"/>
                  </a:solidFill>
                </a:rPr>
                <a:t>to search and add your resource. </a:t>
              </a:r>
              <a:br>
                <a:rPr lang="en-US" sz="1300" dirty="0">
                  <a:solidFill>
                    <a:srgbClr val="66768C"/>
                  </a:solidFill>
                </a:rPr>
              </a:br>
              <a:br>
                <a:rPr lang="en-US" sz="1300" dirty="0">
                  <a:solidFill>
                    <a:srgbClr val="66768C"/>
                  </a:solidFill>
                </a:rPr>
              </a:br>
              <a:r>
                <a:rPr lang="en-US" sz="1300" dirty="0">
                  <a:solidFill>
                    <a:srgbClr val="66768C"/>
                  </a:solidFill>
                </a:rPr>
                <a:t>Enter the resource information along with a file or external link in </a:t>
              </a:r>
              <a:r>
                <a:rPr lang="en-US" sz="1300" b="1" dirty="0">
                  <a:solidFill>
                    <a:srgbClr val="66768C"/>
                  </a:solidFill>
                </a:rPr>
                <a:t>Manual Entry</a:t>
              </a:r>
              <a:r>
                <a:rPr lang="en-US" sz="1300" dirty="0">
                  <a:solidFill>
                    <a:srgbClr val="66768C"/>
                  </a:solidFill>
                </a:rPr>
                <a:t>.</a:t>
              </a:r>
              <a:br>
                <a:rPr lang="en-US" sz="1300" dirty="0">
                  <a:solidFill>
                    <a:srgbClr val="66768C"/>
                  </a:solidFill>
                </a:rPr>
              </a:br>
              <a:br>
                <a:rPr lang="en-US" sz="1300" dirty="0">
                  <a:solidFill>
                    <a:srgbClr val="66768C"/>
                  </a:solidFill>
                </a:rPr>
              </a:br>
              <a:r>
                <a:rPr lang="en-US" sz="1300" dirty="0">
                  <a:solidFill>
                    <a:srgbClr val="66768C"/>
                  </a:solidFill>
                </a:rPr>
                <a:t>The </a:t>
              </a:r>
              <a:r>
                <a:rPr lang="en-US" sz="1300" dirty="0">
                  <a:solidFill>
                    <a:srgbClr val="FF0000"/>
                  </a:solidFill>
                </a:rPr>
                <a:t>maximum size</a:t>
              </a:r>
              <a:r>
                <a:rPr lang="en-US" sz="1300" dirty="0">
                  <a:solidFill>
                    <a:srgbClr val="66768C"/>
                  </a:solidFill>
                </a:rPr>
                <a:t> for file uploads is </a:t>
              </a:r>
              <a:r>
                <a:rPr lang="en-US" sz="1300" dirty="0">
                  <a:solidFill>
                    <a:srgbClr val="FF0000"/>
                  </a:solidFill>
                </a:rPr>
                <a:t>15MB</a:t>
              </a:r>
              <a:r>
                <a:rPr lang="en-US" sz="1300" dirty="0">
                  <a:solidFill>
                    <a:srgbClr val="66768C"/>
                  </a:solidFill>
                </a:rPr>
                <a:t>.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726029-426F-E5CF-4052-7AF2A8222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42806" y="5752730"/>
              <a:ext cx="2235968" cy="2129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6167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50297C8A-1E04-6F9D-5E57-C0151EE3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ACCA53CC-07EF-55E7-A79D-790CB130B05C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Data &amp; Outputs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1E9750-757B-08E5-B799-9CA5F3B30E90}"/>
              </a:ext>
            </a:extLst>
          </p:cNvPr>
          <p:cNvGrpSpPr/>
          <p:nvPr/>
        </p:nvGrpSpPr>
        <p:grpSpPr>
          <a:xfrm>
            <a:off x="4349069" y="1502177"/>
            <a:ext cx="3704965" cy="1112074"/>
            <a:chOff x="9244917" y="2434169"/>
            <a:chExt cx="3073849" cy="1814865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99E1090F-778C-DF83-90BB-A548A40A8F5E}"/>
                </a:ext>
              </a:extLst>
            </p:cNvPr>
            <p:cNvSpPr/>
            <p:nvPr/>
          </p:nvSpPr>
          <p:spPr>
            <a:xfrm>
              <a:off x="9244917" y="2434169"/>
              <a:ext cx="2975084" cy="1814865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715BFF5C-C73B-9A3C-DDAF-AEFE114C4753}"/>
                </a:ext>
              </a:extLst>
            </p:cNvPr>
            <p:cNvSpPr/>
            <p:nvPr/>
          </p:nvSpPr>
          <p:spPr>
            <a:xfrm>
              <a:off x="9370226" y="2479706"/>
              <a:ext cx="2948540" cy="1723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66768C"/>
                  </a:solidFill>
                </a:rPr>
                <a:t>Using the three dots on the right corner, </a:t>
              </a:r>
              <a:r>
                <a:rPr lang="en-US" sz="1300" b="1" dirty="0">
                  <a:solidFill>
                    <a:srgbClr val="66768C"/>
                  </a:solidFill>
                </a:rPr>
                <a:t>Link Samples</a:t>
              </a:r>
              <a:r>
                <a:rPr lang="en-US" sz="1300" dirty="0">
                  <a:solidFill>
                    <a:srgbClr val="66768C"/>
                  </a:solidFill>
                </a:rPr>
                <a:t>, edit resource under </a:t>
              </a:r>
              <a:r>
                <a:rPr lang="en-US" sz="1300" b="1" dirty="0">
                  <a:solidFill>
                    <a:srgbClr val="66768C"/>
                  </a:solidFill>
                </a:rPr>
                <a:t>Settings,</a:t>
              </a:r>
              <a:r>
                <a:rPr lang="en-US" sz="1300" dirty="0">
                  <a:solidFill>
                    <a:srgbClr val="66768C"/>
                  </a:solidFill>
                </a:rPr>
                <a:t> and </a:t>
              </a:r>
              <a:r>
                <a:rPr lang="en-US" sz="1300" b="1" dirty="0">
                  <a:solidFill>
                    <a:srgbClr val="FF0000"/>
                  </a:solidFill>
                </a:rPr>
                <a:t>Delete</a:t>
              </a:r>
              <a:r>
                <a:rPr lang="en-US" sz="1300" dirty="0">
                  <a:solidFill>
                    <a:srgbClr val="66768C"/>
                  </a:solidFill>
                </a:rPr>
                <a:t> your resource.</a:t>
              </a:r>
              <a:br>
                <a:rPr lang="en-US" sz="1300" dirty="0">
                  <a:solidFill>
                    <a:srgbClr val="66768C"/>
                  </a:solidFill>
                </a:rPr>
              </a:br>
              <a:br>
                <a:rPr lang="en-US" sz="1300" dirty="0">
                  <a:solidFill>
                    <a:srgbClr val="66768C"/>
                  </a:solidFill>
                </a:rPr>
              </a:br>
              <a:r>
                <a:rPr lang="en-US" sz="1300" b="1" dirty="0">
                  <a:solidFill>
                    <a:srgbClr val="FF0000"/>
                  </a:solidFill>
                </a:rPr>
                <a:t>Delete Resource</a:t>
              </a:r>
              <a:r>
                <a:rPr lang="en-US" sz="1300" dirty="0">
                  <a:solidFill>
                    <a:srgbClr val="66768C"/>
                  </a:solidFill>
                </a:rPr>
                <a:t> is also found under Settings.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454169D-7A37-1F4A-BBEE-5AD8C97DD0DF}"/>
              </a:ext>
            </a:extLst>
          </p:cNvPr>
          <p:cNvGrpSpPr/>
          <p:nvPr/>
        </p:nvGrpSpPr>
        <p:grpSpPr>
          <a:xfrm>
            <a:off x="4370187" y="2763153"/>
            <a:ext cx="3565457" cy="3540933"/>
            <a:chOff x="4573218" y="2402614"/>
            <a:chExt cx="3924896" cy="3540933"/>
          </a:xfrm>
        </p:grpSpPr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6B6184D7-4191-49A1-6D16-A9D3FF0753F0}"/>
                </a:ext>
              </a:extLst>
            </p:cNvPr>
            <p:cNvSpPr/>
            <p:nvPr/>
          </p:nvSpPr>
          <p:spPr>
            <a:xfrm>
              <a:off x="4573218" y="2402614"/>
              <a:ext cx="3924896" cy="3540933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25400">
              <a:solidFill>
                <a:srgbClr val="FFC00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F2640D3-B959-99A2-5FE9-522E059DF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7314" y="2460670"/>
              <a:ext cx="3803231" cy="34290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9FD31F6-F5D4-3114-6BA3-183DA071A20C}"/>
              </a:ext>
            </a:extLst>
          </p:cNvPr>
          <p:cNvGrpSpPr/>
          <p:nvPr/>
        </p:nvGrpSpPr>
        <p:grpSpPr>
          <a:xfrm>
            <a:off x="507387" y="1435684"/>
            <a:ext cx="3722638" cy="5012315"/>
            <a:chOff x="507387" y="1291771"/>
            <a:chExt cx="3722638" cy="5012315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FEA058E3-D9FB-0B46-89FF-7010651C18FA}"/>
                </a:ext>
              </a:extLst>
            </p:cNvPr>
            <p:cNvSpPr/>
            <p:nvPr/>
          </p:nvSpPr>
          <p:spPr>
            <a:xfrm>
              <a:off x="507387" y="1291771"/>
              <a:ext cx="3722638" cy="5012315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dirty="0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17A30699-2CDB-7D1A-7DE1-028ACB037219}"/>
                </a:ext>
              </a:extLst>
            </p:cNvPr>
            <p:cNvSpPr/>
            <p:nvPr/>
          </p:nvSpPr>
          <p:spPr>
            <a:xfrm>
              <a:off x="719062" y="5867899"/>
              <a:ext cx="3446867" cy="4361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66768C"/>
                  </a:solidFill>
                </a:rPr>
                <a:t>Like Images, the Data &amp; Outputs has a 5GB limit.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60793A1-09CC-4C30-8AD5-93F25632A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2567" y="1349776"/>
              <a:ext cx="3613362" cy="4593771"/>
            </a:xfrm>
            <a:prstGeom prst="rect">
              <a:avLst/>
            </a:prstGeom>
          </p:spPr>
        </p:pic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18A16D7-9E50-8223-72B2-59E62EBC4A47}"/>
              </a:ext>
            </a:extLst>
          </p:cNvPr>
          <p:cNvSpPr/>
          <p:nvPr/>
        </p:nvSpPr>
        <p:spPr>
          <a:xfrm>
            <a:off x="3169215" y="3357692"/>
            <a:ext cx="820057" cy="645887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6EB00A6-0D3C-891E-BB3F-1113CCC198EF}"/>
              </a:ext>
            </a:extLst>
          </p:cNvPr>
          <p:cNvGrpSpPr/>
          <p:nvPr/>
        </p:nvGrpSpPr>
        <p:grpSpPr>
          <a:xfrm>
            <a:off x="8044922" y="1585542"/>
            <a:ext cx="3639691" cy="3861086"/>
            <a:chOff x="7999741" y="2591854"/>
            <a:chExt cx="3990326" cy="3765403"/>
          </a:xfrm>
        </p:grpSpPr>
        <p:sp>
          <p:nvSpPr>
            <p:cNvPr id="27" name="Shape 2">
              <a:extLst>
                <a:ext uri="{FF2B5EF4-FFF2-40B4-BE49-F238E27FC236}">
                  <a16:creationId xmlns:a16="http://schemas.microsoft.com/office/drawing/2014/main" id="{600C641E-7EB6-C912-BAE8-C178A70BAE17}"/>
                </a:ext>
              </a:extLst>
            </p:cNvPr>
            <p:cNvSpPr/>
            <p:nvPr/>
          </p:nvSpPr>
          <p:spPr>
            <a:xfrm>
              <a:off x="7999741" y="2591854"/>
              <a:ext cx="3990326" cy="3765403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dirty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959154F-CFBA-CB49-0B93-802923599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437"/>
            <a:stretch>
              <a:fillRect/>
            </a:stretch>
          </p:blipFill>
          <p:spPr>
            <a:xfrm>
              <a:off x="8040402" y="2639228"/>
              <a:ext cx="3949664" cy="3664858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5845AC7-711B-CDC5-F758-0069108EDA3F}"/>
              </a:ext>
            </a:extLst>
          </p:cNvPr>
          <p:cNvGrpSpPr/>
          <p:nvPr/>
        </p:nvGrpSpPr>
        <p:grpSpPr>
          <a:xfrm>
            <a:off x="8071805" y="5391731"/>
            <a:ext cx="3612805" cy="1056268"/>
            <a:chOff x="9244917" y="2479706"/>
            <a:chExt cx="2997388" cy="1723792"/>
          </a:xfrm>
        </p:grpSpPr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147EF3B3-4188-700C-19CD-83885EA9D48F}"/>
                </a:ext>
              </a:extLst>
            </p:cNvPr>
            <p:cNvSpPr/>
            <p:nvPr/>
          </p:nvSpPr>
          <p:spPr>
            <a:xfrm>
              <a:off x="9244917" y="2701505"/>
              <a:ext cx="2997388" cy="1195088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D6FED0FF-1998-083E-F52D-17B294094734}"/>
                </a:ext>
              </a:extLst>
            </p:cNvPr>
            <p:cNvSpPr/>
            <p:nvPr/>
          </p:nvSpPr>
          <p:spPr>
            <a:xfrm>
              <a:off x="9370226" y="2479706"/>
              <a:ext cx="2806198" cy="1723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66768C"/>
                  </a:solidFill>
                </a:rPr>
                <a:t>Use the left six buttons to drag and drop resources between </a:t>
              </a:r>
              <a:r>
                <a:rPr lang="en-US" sz="1300" b="1" dirty="0">
                  <a:solidFill>
                    <a:srgbClr val="66768C"/>
                  </a:solidFill>
                </a:rPr>
                <a:t>Publications</a:t>
              </a:r>
              <a:r>
                <a:rPr lang="en-US" sz="1300" dirty="0">
                  <a:solidFill>
                    <a:srgbClr val="66768C"/>
                  </a:solidFill>
                </a:rPr>
                <a:t>, </a:t>
              </a:r>
              <a:r>
                <a:rPr lang="en-US" sz="1300" b="1" dirty="0">
                  <a:solidFill>
                    <a:srgbClr val="66768C"/>
                  </a:solidFill>
                </a:rPr>
                <a:t>Datasets</a:t>
              </a:r>
              <a:r>
                <a:rPr lang="en-US" sz="1300" dirty="0">
                  <a:solidFill>
                    <a:srgbClr val="66768C"/>
                  </a:solidFill>
                </a:rPr>
                <a:t>, and </a:t>
              </a:r>
              <a:r>
                <a:rPr lang="en-US" sz="1300" b="1" dirty="0">
                  <a:solidFill>
                    <a:srgbClr val="66768C"/>
                  </a:solidFill>
                </a:rPr>
                <a:t>Other Resources</a:t>
              </a:r>
              <a:r>
                <a:rPr lang="en-US" sz="1300" dirty="0">
                  <a:solidFill>
                    <a:srgbClr val="66768C"/>
                  </a:solidFill>
                </a:rPr>
                <a:t>.</a:t>
              </a:r>
            </a:p>
          </p:txBody>
        </p:sp>
      </p:grpSp>
      <p:sp>
        <p:nvSpPr>
          <p:cNvPr id="32" name="Donut 31">
            <a:extLst>
              <a:ext uri="{FF2B5EF4-FFF2-40B4-BE49-F238E27FC236}">
                <a16:creationId xmlns:a16="http://schemas.microsoft.com/office/drawing/2014/main" id="{6E5271B2-7D0D-026A-F87A-B399CB28A968}"/>
              </a:ext>
            </a:extLst>
          </p:cNvPr>
          <p:cNvSpPr/>
          <p:nvPr/>
        </p:nvSpPr>
        <p:spPr>
          <a:xfrm>
            <a:off x="8066694" y="2888343"/>
            <a:ext cx="259970" cy="254226"/>
          </a:xfrm>
          <a:prstGeom prst="donut">
            <a:avLst>
              <a:gd name="adj" fmla="val 8054"/>
            </a:avLst>
          </a:prstGeom>
          <a:solidFill>
            <a:srgbClr val="FFCA54"/>
          </a:solidFill>
          <a:ln w="0">
            <a:solidFill>
              <a:srgbClr val="FFCA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280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5C909539-B62B-6020-A1C4-87859ED4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66947958-4A33-C855-5598-65F9A3E53E22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3" name="18_Adding data and outputs">
            <a:hlinkClick r:id="" action="ppaction://media"/>
            <a:extLst>
              <a:ext uri="{FF2B5EF4-FFF2-40B4-BE49-F238E27FC236}">
                <a16:creationId xmlns:a16="http://schemas.microsoft.com/office/drawing/2014/main" id="{290C62B9-2396-7525-6E0F-FFE5C8DF5B0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72898" y="1177731"/>
            <a:ext cx="7065659" cy="554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89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8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Custom 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16672"/>
      </a:accent1>
      <a:accent2>
        <a:srgbClr val="298397"/>
      </a:accent2>
      <a:accent3>
        <a:srgbClr val="7EC5D3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{98908F5D-E017-2A45-969B-0B827CAB7295}tf10001120</Template>
  <TotalTime>7443</TotalTime>
  <Words>168</Words>
  <Application>Microsoft Macintosh PowerPoint</Application>
  <PresentationFormat>Widescreen</PresentationFormat>
  <Paragraphs>12</Paragraphs>
  <Slides>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Gill Sans MT</vt:lpstr>
      <vt:lpstr>Parcel</vt:lpstr>
      <vt:lpstr>Data &amp; Outputs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86</cp:revision>
  <dcterms:created xsi:type="dcterms:W3CDTF">2023-01-20T14:09:08Z</dcterms:created>
  <dcterms:modified xsi:type="dcterms:W3CDTF">2026-09-24T12:33:08Z</dcterms:modified>
</cp:coreProperties>
</file>