
<file path=[Content_Types].xml><?xml version="1.0" encoding="utf-8"?>
<Types xmlns="http://schemas.openxmlformats.org/package/2006/content-types">
  <Default Extension="jpeg" ContentType="image/jpeg"/>
  <Default Extension="mov" ContentType="video/quicktime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6"/>
  </p:notesMasterIdLst>
  <p:sldIdLst>
    <p:sldId id="370" r:id="rId2"/>
    <p:sldId id="371" r:id="rId3"/>
    <p:sldId id="372" r:id="rId4"/>
    <p:sldId id="37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68C"/>
    <a:srgbClr val="FFCA54"/>
    <a:srgbClr val="FF972E"/>
    <a:srgbClr val="57A9BD"/>
    <a:srgbClr val="3D3D3D"/>
    <a:srgbClr val="FFB329"/>
    <a:srgbClr val="7FFFE7"/>
    <a:srgbClr val="1A1E8A"/>
    <a:srgbClr val="F898B5"/>
    <a:srgbClr val="1F39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9"/>
    <p:restoredTop sz="89593"/>
  </p:normalViewPr>
  <p:slideViewPr>
    <p:cSldViewPr snapToGrid="0">
      <p:cViewPr varScale="1">
        <p:scale>
          <a:sx n="131" d="100"/>
          <a:sy n="131" d="100"/>
        </p:scale>
        <p:origin x="200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A37812-C4D0-0647-983A-CD0AFBE9B2BA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EE971-73DC-9E45-8558-55708FB03C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7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AB483-5309-8893-F087-7ABC5D5C6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2A285-5465-80DD-678A-E0365DF010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D1FEE-9E33-8E04-2A9C-A0D41EDD3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72DBC7-D025-45D5-8430-B41384FD5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EE971-73DC-9E45-8558-55708FB03C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2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0C155026-B6F0-1F32-307A-7F60D7EE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1F736C75-6942-022D-3E24-8635A8E5B5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7AE94B97-C3E1-CF5A-9385-CCD2666C08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051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6B615EA5-4E39-D380-7FE1-26EB54206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977511F6-B802-0A72-81DC-F8385EF90E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CCC8A9AB-53F3-A6A2-E943-910741776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08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>
          <a:extLst>
            <a:ext uri="{FF2B5EF4-FFF2-40B4-BE49-F238E27FC236}">
              <a16:creationId xmlns:a16="http://schemas.microsoft.com/office/drawing/2014/main" id="{93EF6D94-86EF-3A88-258C-8F45F8EF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23c6d15fa_0_176:notes">
            <a:extLst>
              <a:ext uri="{FF2B5EF4-FFF2-40B4-BE49-F238E27FC236}">
                <a16:creationId xmlns:a16="http://schemas.microsoft.com/office/drawing/2014/main" id="{6780B057-FC94-A24F-4267-4EA2E8AE2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23c6d15fa_0_176:notes">
            <a:extLst>
              <a:ext uri="{FF2B5EF4-FFF2-40B4-BE49-F238E27FC236}">
                <a16:creationId xmlns:a16="http://schemas.microsoft.com/office/drawing/2014/main" id="{A9E10309-D9BF-3CAE-4F3F-2F73612C0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02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B98A5-C087-784A-A5B7-6F3964D00BD6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3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22C03-01A9-4F42-845C-53AC1BF3EC44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0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6CEA-6EE9-9F4E-8761-AEA1AE3E0A70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2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4786F-7959-ED46-8AC7-83E738059077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3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9C68E-9CBA-F44D-B3CB-0200A9CB87C1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085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404D4-685D-2449-86A4-BCF3637BD2E5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33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48CC3-A68A-274B-A662-799610CF23DF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3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8720-36E2-864B-B3C5-BF9262029B32}" type="datetime1">
              <a:rPr lang="en-US" smtClean="0"/>
              <a:t>9/24/26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539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AA384C1-8BD6-B444-9DE2-60584836B2A9}" type="datetime1">
              <a:rPr lang="en-US" smtClean="0"/>
              <a:t>9/24/26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47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88C81-9867-8243-8420-12A7F4F78CA3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0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C77DF-4683-9640-829B-489F07E6CB6F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45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6725842-727D-7840-B298-E7A02210D9A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IVACEI Workshop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DFDDB0A-E7FE-9E46-98B2-D34BCDB0AD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5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480C07-CEAE-2638-47A0-DC42B7BB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B6B6-5E92-F8B1-294C-8F15F6AB8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8254" y="2030818"/>
            <a:ext cx="9075492" cy="2796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4000" dirty="0"/>
              <a:t>Transfer Requests</a:t>
            </a:r>
          </a:p>
        </p:txBody>
      </p:sp>
    </p:spTree>
    <p:extLst>
      <p:ext uri="{BB962C8B-B14F-4D97-AF65-F5344CB8AC3E}">
        <p14:creationId xmlns:p14="http://schemas.microsoft.com/office/powerpoint/2010/main" val="92286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3FD26918-5509-38EF-880A-44BDE8C6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>
            <a:extLst>
              <a:ext uri="{FF2B5EF4-FFF2-40B4-BE49-F238E27FC236}">
                <a16:creationId xmlns:a16="http://schemas.microsoft.com/office/drawing/2014/main" id="{C794C4CB-6278-8A09-7C3D-DBA97666CD46}"/>
              </a:ext>
            </a:extLst>
          </p:cNvPr>
          <p:cNvSpPr/>
          <p:nvPr/>
        </p:nvSpPr>
        <p:spPr>
          <a:xfrm>
            <a:off x="1522939" y="1250914"/>
            <a:ext cx="9037320" cy="1235923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56428BCB-23AA-9633-EABA-18DA4590E54B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Transfer Request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595C8E7-088D-E493-D061-7C1C408A3763}"/>
              </a:ext>
            </a:extLst>
          </p:cNvPr>
          <p:cNvSpPr/>
          <p:nvPr/>
        </p:nvSpPr>
        <p:spPr>
          <a:xfrm>
            <a:off x="1631741" y="1333335"/>
            <a:ext cx="9037320" cy="1060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768C"/>
                </a:solidFill>
              </a:rPr>
              <a:t>Transfer samples and SESAR Codes between users and Teams by selecting specific lists of IGSNs to All Samples in a Group.</a:t>
            </a:r>
            <a:br>
              <a:rPr lang="en-US" sz="1400" dirty="0">
                <a:solidFill>
                  <a:srgbClr val="66768C"/>
                </a:solidFill>
              </a:rPr>
            </a:br>
            <a:br>
              <a:rPr lang="en-US" sz="1400" dirty="0">
                <a:solidFill>
                  <a:srgbClr val="66768C"/>
                </a:solidFill>
              </a:rPr>
            </a:br>
            <a:r>
              <a:rPr lang="en-US" sz="1400" dirty="0">
                <a:solidFill>
                  <a:srgbClr val="66768C"/>
                </a:solidFill>
              </a:rPr>
              <a:t>Select </a:t>
            </a:r>
            <a:r>
              <a:rPr lang="en-US" sz="1400" b="1" dirty="0">
                <a:solidFill>
                  <a:srgbClr val="66768C"/>
                </a:solidFill>
              </a:rPr>
              <a:t>New Transfer </a:t>
            </a:r>
            <a:r>
              <a:rPr lang="en-US" sz="1400" dirty="0">
                <a:solidFill>
                  <a:srgbClr val="66768C"/>
                </a:solidFill>
              </a:rPr>
              <a:t>to get started and follow the prompts. </a:t>
            </a:r>
            <a:br>
              <a:rPr lang="en-US" sz="1400" dirty="0">
                <a:solidFill>
                  <a:srgbClr val="66768C"/>
                </a:solidFill>
              </a:rPr>
            </a:br>
            <a:br>
              <a:rPr lang="en-US" sz="1400" dirty="0">
                <a:solidFill>
                  <a:srgbClr val="66768C"/>
                </a:solidFill>
              </a:rPr>
            </a:br>
            <a:r>
              <a:rPr lang="en-US" sz="1400" b="1" dirty="0">
                <a:solidFill>
                  <a:srgbClr val="66768C"/>
                </a:solidFill>
              </a:rPr>
              <a:t>Initiate Transfer </a:t>
            </a:r>
            <a:r>
              <a:rPr lang="en-US" sz="1400" dirty="0">
                <a:solidFill>
                  <a:srgbClr val="66768C"/>
                </a:solidFill>
              </a:rPr>
              <a:t>when ready.</a:t>
            </a:r>
            <a:endParaRPr lang="en-US" sz="1400" b="1" dirty="0">
              <a:solidFill>
                <a:srgbClr val="66768C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8806D5-F334-4BB7-73BD-39F163BBBDC2}"/>
              </a:ext>
            </a:extLst>
          </p:cNvPr>
          <p:cNvGrpSpPr/>
          <p:nvPr/>
        </p:nvGrpSpPr>
        <p:grpSpPr>
          <a:xfrm>
            <a:off x="381000" y="2765045"/>
            <a:ext cx="7197999" cy="3359239"/>
            <a:chOff x="817029" y="1365309"/>
            <a:chExt cx="6381297" cy="2978092"/>
          </a:xfrm>
        </p:grpSpPr>
        <p:sp>
          <p:nvSpPr>
            <p:cNvPr id="2" name="Shape 2">
              <a:extLst>
                <a:ext uri="{FF2B5EF4-FFF2-40B4-BE49-F238E27FC236}">
                  <a16:creationId xmlns:a16="http://schemas.microsoft.com/office/drawing/2014/main" id="{C3528F7E-4407-17D3-1000-481DD9FF62A5}"/>
                </a:ext>
              </a:extLst>
            </p:cNvPr>
            <p:cNvSpPr/>
            <p:nvPr/>
          </p:nvSpPr>
          <p:spPr>
            <a:xfrm>
              <a:off x="817029" y="1365309"/>
              <a:ext cx="6381297" cy="2978092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1071E66-B041-19FD-7C12-902DC795B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4499"/>
            <a:stretch>
              <a:fillRect/>
            </a:stretch>
          </p:blipFill>
          <p:spPr>
            <a:xfrm>
              <a:off x="909016" y="1467299"/>
              <a:ext cx="6232020" cy="2804425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59230DF-3195-3D08-01F6-0D9B8C892FF3}"/>
                </a:ext>
              </a:extLst>
            </p:cNvPr>
            <p:cNvSpPr/>
            <p:nvPr/>
          </p:nvSpPr>
          <p:spPr>
            <a:xfrm>
              <a:off x="6096000" y="1856231"/>
              <a:ext cx="862584" cy="356617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FB6B6C1-152A-2397-A4A7-3AC05C6395A9}"/>
              </a:ext>
            </a:extLst>
          </p:cNvPr>
          <p:cNvGrpSpPr/>
          <p:nvPr/>
        </p:nvGrpSpPr>
        <p:grpSpPr>
          <a:xfrm>
            <a:off x="7682759" y="2632196"/>
            <a:ext cx="3758418" cy="3624939"/>
            <a:chOff x="7692829" y="1264724"/>
            <a:chExt cx="3758418" cy="3624939"/>
          </a:xfrm>
        </p:grpSpPr>
        <p:sp>
          <p:nvSpPr>
            <p:cNvPr id="43" name="Shape 2">
              <a:extLst>
                <a:ext uri="{FF2B5EF4-FFF2-40B4-BE49-F238E27FC236}">
                  <a16:creationId xmlns:a16="http://schemas.microsoft.com/office/drawing/2014/main" id="{91CF3832-84BE-0B6F-8833-33DFCEFBFC90}"/>
                </a:ext>
              </a:extLst>
            </p:cNvPr>
            <p:cNvSpPr/>
            <p:nvPr/>
          </p:nvSpPr>
          <p:spPr>
            <a:xfrm>
              <a:off x="7692829" y="1264724"/>
              <a:ext cx="3758418" cy="3624939"/>
            </a:xfrm>
            <a:prstGeom prst="roundRect">
              <a:avLst>
                <a:gd name="adj" fmla="val 1646"/>
              </a:avLst>
            </a:prstGeom>
            <a:noFill/>
            <a:ln w="25400">
              <a:solidFill>
                <a:srgbClr val="FFCA54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0BAAE66-C881-8932-79C2-B2E27F046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0163" y="1314289"/>
              <a:ext cx="3651489" cy="3504600"/>
            </a:xfrm>
            <a:prstGeom prst="rect">
              <a:avLst/>
            </a:prstGeom>
          </p:spPr>
        </p:pic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7A402C81-B90F-C4A3-D19B-D6D7283B2C4A}"/>
                </a:ext>
              </a:extLst>
            </p:cNvPr>
            <p:cNvSpPr/>
            <p:nvPr/>
          </p:nvSpPr>
          <p:spPr>
            <a:xfrm>
              <a:off x="10168129" y="4373861"/>
              <a:ext cx="1161288" cy="362731"/>
            </a:xfrm>
            <a:prstGeom prst="roundRect">
              <a:avLst>
                <a:gd name="adj" fmla="val 10335"/>
              </a:avLst>
            </a:prstGeom>
            <a:noFill/>
            <a:ln w="28575">
              <a:solidFill>
                <a:srgbClr val="FFCA5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7379A4-3DB4-C53F-2BC3-BF557E578968}"/>
              </a:ext>
            </a:extLst>
          </p:cNvPr>
          <p:cNvSpPr/>
          <p:nvPr/>
        </p:nvSpPr>
        <p:spPr>
          <a:xfrm>
            <a:off x="7740093" y="3117024"/>
            <a:ext cx="1943403" cy="1732276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50BBF691-49AE-F737-382C-C7EAFEEA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800B10BD-C37F-ABFF-9431-09C2F82965D1}"/>
              </a:ext>
            </a:extLst>
          </p:cNvPr>
          <p:cNvSpPr/>
          <p:nvPr/>
        </p:nvSpPr>
        <p:spPr>
          <a:xfrm>
            <a:off x="6373368" y="6030692"/>
            <a:ext cx="4410962" cy="537536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CE78E203-0D75-2DF2-8CF9-58A700DD98EC}"/>
              </a:ext>
            </a:extLst>
          </p:cNvPr>
          <p:cNvSpPr/>
          <p:nvPr/>
        </p:nvSpPr>
        <p:spPr>
          <a:xfrm>
            <a:off x="1808026" y="6059935"/>
            <a:ext cx="3960998" cy="374339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2700">
            <a:solidFill>
              <a:srgbClr val="D5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5EA6C120-1422-4403-E6FF-1926B42CC8D7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ACCEPT Samples or SESAR Code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CB66D14-F178-0A3F-DB53-A729E049420D}"/>
              </a:ext>
            </a:extLst>
          </p:cNvPr>
          <p:cNvSpPr/>
          <p:nvPr/>
        </p:nvSpPr>
        <p:spPr>
          <a:xfrm>
            <a:off x="1974966" y="5991465"/>
            <a:ext cx="3832411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68C"/>
                </a:solidFill>
              </a:rPr>
              <a:t>Email notification will be sent to the transfer recipient.</a:t>
            </a:r>
            <a:endParaRPr lang="en-US" sz="1300" b="1" dirty="0">
              <a:solidFill>
                <a:srgbClr val="66768C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4DE051-9026-3A03-80B1-FACCA6FBAD20}"/>
              </a:ext>
            </a:extLst>
          </p:cNvPr>
          <p:cNvGrpSpPr/>
          <p:nvPr/>
        </p:nvGrpSpPr>
        <p:grpSpPr>
          <a:xfrm>
            <a:off x="1548419" y="1354365"/>
            <a:ext cx="4503256" cy="4608344"/>
            <a:chOff x="5723045" y="1327652"/>
            <a:chExt cx="3951307" cy="4009986"/>
          </a:xfrm>
        </p:grpSpPr>
        <p:sp>
          <p:nvSpPr>
            <p:cNvPr id="7" name="Shape 2">
              <a:extLst>
                <a:ext uri="{FF2B5EF4-FFF2-40B4-BE49-F238E27FC236}">
                  <a16:creationId xmlns:a16="http://schemas.microsoft.com/office/drawing/2014/main" id="{473D45E5-3F0A-91B4-D1A9-4929CC8CE5F8}"/>
                </a:ext>
              </a:extLst>
            </p:cNvPr>
            <p:cNvSpPr/>
            <p:nvPr/>
          </p:nvSpPr>
          <p:spPr>
            <a:xfrm>
              <a:off x="5723045" y="1327652"/>
              <a:ext cx="3951307" cy="4009986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12700">
              <a:solidFill>
                <a:srgbClr val="D5DEE7"/>
              </a:solidFill>
              <a:prstDash val="solid"/>
            </a:ln>
            <a:effectLst>
              <a:outerShdw blurRad="25400" dist="127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89075ED-3473-3560-97CC-097F18FE3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2383" y="1401923"/>
              <a:ext cx="3832411" cy="3821335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729DD16-3FFD-5061-43F2-4E465D887AFC}"/>
              </a:ext>
            </a:extLst>
          </p:cNvPr>
          <p:cNvGrpSpPr/>
          <p:nvPr/>
        </p:nvGrpSpPr>
        <p:grpSpPr>
          <a:xfrm>
            <a:off x="6190488" y="1354365"/>
            <a:ext cx="4773168" cy="4608344"/>
            <a:chOff x="391071" y="1264724"/>
            <a:chExt cx="4336378" cy="426562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723EFCA-C13B-9A2E-B7C4-7EA16A1C0436}"/>
                </a:ext>
              </a:extLst>
            </p:cNvPr>
            <p:cNvGrpSpPr/>
            <p:nvPr/>
          </p:nvGrpSpPr>
          <p:grpSpPr>
            <a:xfrm>
              <a:off x="391071" y="1264724"/>
              <a:ext cx="4336378" cy="4265625"/>
              <a:chOff x="817029" y="1365309"/>
              <a:chExt cx="6381297" cy="2888249"/>
            </a:xfrm>
          </p:grpSpPr>
          <p:sp>
            <p:nvSpPr>
              <p:cNvPr id="2" name="Shape 2">
                <a:extLst>
                  <a:ext uri="{FF2B5EF4-FFF2-40B4-BE49-F238E27FC236}">
                    <a16:creationId xmlns:a16="http://schemas.microsoft.com/office/drawing/2014/main" id="{ECFD141F-7D99-11E4-58F7-A4567B4B924A}"/>
                  </a:ext>
                </a:extLst>
              </p:cNvPr>
              <p:cNvSpPr/>
              <p:nvPr/>
            </p:nvSpPr>
            <p:spPr>
              <a:xfrm>
                <a:off x="817029" y="1365309"/>
                <a:ext cx="6381297" cy="2888249"/>
              </a:xfrm>
              <a:prstGeom prst="roundRect">
                <a:avLst>
                  <a:gd name="adj" fmla="val 1646"/>
                </a:avLst>
              </a:prstGeom>
              <a:solidFill>
                <a:srgbClr val="FFFFFF"/>
              </a:solidFill>
              <a:ln w="12700">
                <a:solidFill>
                  <a:srgbClr val="D5DEE7"/>
                </a:solidFill>
                <a:prstDash val="solid"/>
              </a:ln>
              <a:effectLst>
                <a:outerShdw blurRad="25400" dist="12700" dir="27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640AE426-1B44-9732-B4E1-872C6BA3984B}"/>
                  </a:ext>
                </a:extLst>
              </p:cNvPr>
              <p:cNvSpPr/>
              <p:nvPr/>
            </p:nvSpPr>
            <p:spPr>
              <a:xfrm>
                <a:off x="6096000" y="1856231"/>
                <a:ext cx="862584" cy="356617"/>
              </a:xfrm>
              <a:prstGeom prst="roundRect">
                <a:avLst>
                  <a:gd name="adj" fmla="val 10335"/>
                </a:avLst>
              </a:prstGeom>
              <a:noFill/>
              <a:ln w="28575">
                <a:solidFill>
                  <a:srgbClr val="FFCA54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3C6028C-8654-F1F8-C2D7-9138AB221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2076"/>
            <a:stretch>
              <a:fillRect/>
            </a:stretch>
          </p:blipFill>
          <p:spPr>
            <a:xfrm>
              <a:off x="402497" y="1327651"/>
              <a:ext cx="4313526" cy="4177037"/>
            </a:xfrm>
            <a:prstGeom prst="rect">
              <a:avLst/>
            </a:prstGeom>
          </p:spPr>
        </p:pic>
      </p:grp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2A834C6-25B0-87AA-3DEC-D738A90599F2}"/>
              </a:ext>
            </a:extLst>
          </p:cNvPr>
          <p:cNvSpPr/>
          <p:nvPr/>
        </p:nvSpPr>
        <p:spPr>
          <a:xfrm>
            <a:off x="9624065" y="2630998"/>
            <a:ext cx="1160265" cy="362731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D7FA06D-B619-96A6-9C59-29A91B7D80A0}"/>
              </a:ext>
            </a:extLst>
          </p:cNvPr>
          <p:cNvSpPr/>
          <p:nvPr/>
        </p:nvSpPr>
        <p:spPr>
          <a:xfrm>
            <a:off x="6463173" y="6038918"/>
            <a:ext cx="4244451" cy="51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768C"/>
                </a:solidFill>
              </a:rPr>
              <a:t>Accept</a:t>
            </a:r>
            <a:r>
              <a:rPr lang="en-US" sz="1300" dirty="0">
                <a:solidFill>
                  <a:srgbClr val="66768C"/>
                </a:solidFill>
              </a:rPr>
              <a:t> or </a:t>
            </a:r>
            <a:r>
              <a:rPr lang="en-US" sz="1300" b="1" dirty="0">
                <a:solidFill>
                  <a:srgbClr val="FF0000"/>
                </a:solidFill>
              </a:rPr>
              <a:t>Deny</a:t>
            </a:r>
            <a:r>
              <a:rPr lang="en-US" sz="1300" dirty="0">
                <a:solidFill>
                  <a:srgbClr val="66768C"/>
                </a:solidFill>
              </a:rPr>
              <a:t> transfers.  All transfer records and status are listed in </a:t>
            </a:r>
            <a:r>
              <a:rPr lang="en-US" sz="1300" b="1" dirty="0">
                <a:solidFill>
                  <a:srgbClr val="66768C"/>
                </a:solidFill>
              </a:rPr>
              <a:t>Past History. 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154B302-D7F4-3AE9-A05F-55935455A3D7}"/>
              </a:ext>
            </a:extLst>
          </p:cNvPr>
          <p:cNvSpPr/>
          <p:nvPr/>
        </p:nvSpPr>
        <p:spPr>
          <a:xfrm>
            <a:off x="3195914" y="4886518"/>
            <a:ext cx="1160265" cy="426146"/>
          </a:xfrm>
          <a:prstGeom prst="roundRect">
            <a:avLst>
              <a:gd name="adj" fmla="val 10335"/>
            </a:avLst>
          </a:prstGeom>
          <a:noFill/>
          <a:ln w="28575">
            <a:solidFill>
              <a:srgbClr val="FFCA5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099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>
          <a:extLst>
            <a:ext uri="{FF2B5EF4-FFF2-40B4-BE49-F238E27FC236}">
              <a16:creationId xmlns:a16="http://schemas.microsoft.com/office/drawing/2014/main" id="{92FA56B7-A958-EFB4-C064-F8C077B9C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32;p43">
            <a:extLst>
              <a:ext uri="{FF2B5EF4-FFF2-40B4-BE49-F238E27FC236}">
                <a16:creationId xmlns:a16="http://schemas.microsoft.com/office/drawing/2014/main" id="{51327C1E-FA40-98C2-D915-1E59B2A54C38}"/>
              </a:ext>
            </a:extLst>
          </p:cNvPr>
          <p:cNvSpPr txBox="1">
            <a:spLocks/>
          </p:cNvSpPr>
          <p:nvPr/>
        </p:nvSpPr>
        <p:spPr>
          <a:xfrm>
            <a:off x="381000" y="198611"/>
            <a:ext cx="11430000" cy="896112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440633"/>
                      <a:gd name="connsiteY0" fmla="*/ 0 h 899204"/>
                      <a:gd name="connsiteX1" fmla="*/ 11440633 w 11440633"/>
                      <a:gd name="connsiteY1" fmla="*/ 0 h 899204"/>
                      <a:gd name="connsiteX2" fmla="*/ 11440633 w 11440633"/>
                      <a:gd name="connsiteY2" fmla="*/ 899204 h 899204"/>
                      <a:gd name="connsiteX3" fmla="*/ 0 w 11440633"/>
                      <a:gd name="connsiteY3" fmla="*/ 899204 h 899204"/>
                      <a:gd name="connsiteX4" fmla="*/ 0 w 11440633"/>
                      <a:gd name="connsiteY4" fmla="*/ 0 h 8992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440633" h="899204" fill="none" extrusionOk="0">
                        <a:moveTo>
                          <a:pt x="0" y="0"/>
                        </a:moveTo>
                        <a:cubicBezTo>
                          <a:pt x="1709874" y="-49533"/>
                          <a:pt x="7928618" y="-14809"/>
                          <a:pt x="11440633" y="0"/>
                        </a:cubicBezTo>
                        <a:cubicBezTo>
                          <a:pt x="11388477" y="216712"/>
                          <a:pt x="11422166" y="502071"/>
                          <a:pt x="11440633" y="899204"/>
                        </a:cubicBezTo>
                        <a:cubicBezTo>
                          <a:pt x="8622351" y="850973"/>
                          <a:pt x="5641000" y="983659"/>
                          <a:pt x="0" y="899204"/>
                        </a:cubicBezTo>
                        <a:cubicBezTo>
                          <a:pt x="-32967" y="804542"/>
                          <a:pt x="-21573" y="409341"/>
                          <a:pt x="0" y="0"/>
                        </a:cubicBezTo>
                        <a:close/>
                      </a:path>
                      <a:path w="11440633" h="899204" stroke="0" extrusionOk="0">
                        <a:moveTo>
                          <a:pt x="0" y="0"/>
                        </a:moveTo>
                        <a:cubicBezTo>
                          <a:pt x="1482360" y="118645"/>
                          <a:pt x="6459397" y="116012"/>
                          <a:pt x="11440633" y="0"/>
                        </a:cubicBezTo>
                        <a:cubicBezTo>
                          <a:pt x="11520790" y="276631"/>
                          <a:pt x="11432063" y="497688"/>
                          <a:pt x="11440633" y="899204"/>
                        </a:cubicBezTo>
                        <a:cubicBezTo>
                          <a:pt x="7893261" y="1033804"/>
                          <a:pt x="1764258" y="742008"/>
                          <a:pt x="0" y="899204"/>
                        </a:cubicBezTo>
                        <a:cubicBezTo>
                          <a:pt x="-73659" y="619539"/>
                          <a:pt x="-19312" y="412389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spcFirstLastPara="1" vert="horz" wrap="square" lIns="121900" tIns="60933" rIns="121900" bIns="60933" rtlCol="0" anchor="b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000" dirty="0"/>
              <a:t>VIDEO Tutorial</a:t>
            </a:r>
          </a:p>
        </p:txBody>
      </p:sp>
      <p:pic>
        <p:nvPicPr>
          <p:cNvPr id="2" name="16_Transfer Requests">
            <a:hlinkClick r:id="" action="ppaction://media"/>
            <a:extLst>
              <a:ext uri="{FF2B5EF4-FFF2-40B4-BE49-F238E27FC236}">
                <a16:creationId xmlns:a16="http://schemas.microsoft.com/office/drawing/2014/main" id="{9C757FEB-5DE6-4D5C-1D06-1EFC6F1D967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21946" y="1188719"/>
            <a:ext cx="8948108" cy="554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7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Custom 4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16672"/>
      </a:accent1>
      <a:accent2>
        <a:srgbClr val="298397"/>
      </a:accent2>
      <a:accent3>
        <a:srgbClr val="7EC5D3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{98908F5D-E017-2A45-969B-0B827CAB7295}tf10001120</Template>
  <TotalTime>7434</TotalTime>
  <Words>80</Words>
  <Application>Microsoft Macintosh PowerPoint</Application>
  <PresentationFormat>Widescreen</PresentationFormat>
  <Paragraphs>8</Paragraphs>
  <Slides>4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Parcel</vt:lpstr>
      <vt:lpstr>Transfer Requests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84</cp:revision>
  <dcterms:created xsi:type="dcterms:W3CDTF">2023-01-20T14:09:08Z</dcterms:created>
  <dcterms:modified xsi:type="dcterms:W3CDTF">2026-09-24T12:43:27Z</dcterms:modified>
</cp:coreProperties>
</file>